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_rels/slideLayout9.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_rels/presentation.xml.rels" ContentType="application/vnd.openxmlformats-package.relationships+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_rels/slide9.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media/image9.png" ContentType="image/png"/>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10.png" ContentType="image/png"/>
  <Override PartName="/ppt/media/image11.png" ContentType="image/png"/>
  <Override PartName="/ppt/media/image12.png" ContentType="image/png"/>
  <Override PartName="/ppt/media/image13.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9144000" cy="51435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5" name="PlaceHolder 2"/>
          <p:cNvSpPr>
            <a:spLocks noGrp="1"/>
          </p:cNvSpPr>
          <p:nvPr>
            <p:ph type="subTitle"/>
          </p:nvPr>
        </p:nvSpPr>
        <p:spPr>
          <a:xfrm>
            <a:off x="311760" y="1152360"/>
            <a:ext cx="8520120" cy="341604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7" name="PlaceHolder 2"/>
          <p:cNvSpPr>
            <a:spLocks noGrp="1"/>
          </p:cNvSpPr>
          <p:nvPr>
            <p:ph type="body"/>
          </p:nvPr>
        </p:nvSpPr>
        <p:spPr>
          <a:xfrm>
            <a:off x="311760" y="1152360"/>
            <a:ext cx="8520120" cy="341604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9" name="PlaceHolder 2"/>
          <p:cNvSpPr>
            <a:spLocks noGrp="1"/>
          </p:cNvSpPr>
          <p:nvPr>
            <p:ph type="body"/>
          </p:nvPr>
        </p:nvSpPr>
        <p:spPr>
          <a:xfrm>
            <a:off x="311760" y="1152360"/>
            <a:ext cx="4157640" cy="3416040"/>
          </a:xfrm>
          <a:prstGeom prst="rect">
            <a:avLst/>
          </a:prstGeom>
        </p:spPr>
        <p:txBody>
          <a:bodyPr lIns="0" rIns="0" tIns="0" bIns="0">
            <a:normAutofit/>
          </a:bodyPr>
          <a:p>
            <a:endParaRPr b="0" lang="en-US" sz="1400" spc="-1" strike="noStrike">
              <a:solidFill>
                <a:srgbClr val="000000"/>
              </a:solidFill>
              <a:latin typeface="Arial"/>
            </a:endParaRPr>
          </a:p>
        </p:txBody>
      </p:sp>
      <p:sp>
        <p:nvSpPr>
          <p:cNvPr id="10" name="PlaceHolder 3"/>
          <p:cNvSpPr>
            <a:spLocks noGrp="1"/>
          </p:cNvSpPr>
          <p:nvPr>
            <p:ph type="body"/>
          </p:nvPr>
        </p:nvSpPr>
        <p:spPr>
          <a:xfrm>
            <a:off x="4677840" y="1152360"/>
            <a:ext cx="4157640" cy="341604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311760" y="444960"/>
            <a:ext cx="8520120" cy="265464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14" name="PlaceHolder 2"/>
          <p:cNvSpPr>
            <a:spLocks noGrp="1"/>
          </p:cNvSpPr>
          <p:nvPr>
            <p:ph type="body"/>
          </p:nvPr>
        </p:nvSpPr>
        <p:spPr>
          <a:xfrm>
            <a:off x="311760" y="115236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15" name="PlaceHolder 3"/>
          <p:cNvSpPr>
            <a:spLocks noGrp="1"/>
          </p:cNvSpPr>
          <p:nvPr>
            <p:ph type="body"/>
          </p:nvPr>
        </p:nvSpPr>
        <p:spPr>
          <a:xfrm>
            <a:off x="4677840" y="1152360"/>
            <a:ext cx="4157640" cy="3416040"/>
          </a:xfrm>
          <a:prstGeom prst="rect">
            <a:avLst/>
          </a:prstGeom>
        </p:spPr>
        <p:txBody>
          <a:bodyPr lIns="0" rIns="0" tIns="0" bIns="0">
            <a:normAutofit/>
          </a:bodyPr>
          <a:p>
            <a:endParaRPr b="0" lang="en-US" sz="1400" spc="-1" strike="noStrike">
              <a:solidFill>
                <a:srgbClr val="000000"/>
              </a:solidFill>
              <a:latin typeface="Arial"/>
            </a:endParaRPr>
          </a:p>
        </p:txBody>
      </p:sp>
      <p:sp>
        <p:nvSpPr>
          <p:cNvPr id="16" name="PlaceHolder 4"/>
          <p:cNvSpPr>
            <a:spLocks noGrp="1"/>
          </p:cNvSpPr>
          <p:nvPr>
            <p:ph type="body"/>
          </p:nvPr>
        </p:nvSpPr>
        <p:spPr>
          <a:xfrm>
            <a:off x="311760" y="293688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18" name="PlaceHolder 2"/>
          <p:cNvSpPr>
            <a:spLocks noGrp="1"/>
          </p:cNvSpPr>
          <p:nvPr>
            <p:ph type="body"/>
          </p:nvPr>
        </p:nvSpPr>
        <p:spPr>
          <a:xfrm>
            <a:off x="311760" y="1152360"/>
            <a:ext cx="4157640" cy="3416040"/>
          </a:xfrm>
          <a:prstGeom prst="rect">
            <a:avLst/>
          </a:prstGeom>
        </p:spPr>
        <p:txBody>
          <a:bodyPr lIns="0" rIns="0" tIns="0" bIns="0">
            <a:normAutofit/>
          </a:bodyPr>
          <a:p>
            <a:endParaRPr b="0" lang="en-US" sz="1400" spc="-1" strike="noStrike">
              <a:solidFill>
                <a:srgbClr val="000000"/>
              </a:solidFill>
              <a:latin typeface="Arial"/>
            </a:endParaRPr>
          </a:p>
        </p:txBody>
      </p:sp>
      <p:sp>
        <p:nvSpPr>
          <p:cNvPr id="19" name="PlaceHolder 3"/>
          <p:cNvSpPr>
            <a:spLocks noGrp="1"/>
          </p:cNvSpPr>
          <p:nvPr>
            <p:ph type="body"/>
          </p:nvPr>
        </p:nvSpPr>
        <p:spPr>
          <a:xfrm>
            <a:off x="4677840" y="115236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20" name="PlaceHolder 4"/>
          <p:cNvSpPr>
            <a:spLocks noGrp="1"/>
          </p:cNvSpPr>
          <p:nvPr>
            <p:ph type="body"/>
          </p:nvPr>
        </p:nvSpPr>
        <p:spPr>
          <a:xfrm>
            <a:off x="4677840" y="293688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22" name="PlaceHolder 2"/>
          <p:cNvSpPr>
            <a:spLocks noGrp="1"/>
          </p:cNvSpPr>
          <p:nvPr>
            <p:ph type="body"/>
          </p:nvPr>
        </p:nvSpPr>
        <p:spPr>
          <a:xfrm>
            <a:off x="311760" y="115236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23" name="PlaceHolder 3"/>
          <p:cNvSpPr>
            <a:spLocks noGrp="1"/>
          </p:cNvSpPr>
          <p:nvPr>
            <p:ph type="body"/>
          </p:nvPr>
        </p:nvSpPr>
        <p:spPr>
          <a:xfrm>
            <a:off x="4677840" y="115236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24" name="PlaceHolder 4"/>
          <p:cNvSpPr>
            <a:spLocks noGrp="1"/>
          </p:cNvSpPr>
          <p:nvPr>
            <p:ph type="body"/>
          </p:nvPr>
        </p:nvSpPr>
        <p:spPr>
          <a:xfrm>
            <a:off x="311760" y="2936880"/>
            <a:ext cx="8520120" cy="162936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26" name="PlaceHolder 2"/>
          <p:cNvSpPr>
            <a:spLocks noGrp="1"/>
          </p:cNvSpPr>
          <p:nvPr>
            <p:ph type="body"/>
          </p:nvPr>
        </p:nvSpPr>
        <p:spPr>
          <a:xfrm>
            <a:off x="311760" y="1152360"/>
            <a:ext cx="852012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27" name="PlaceHolder 3"/>
          <p:cNvSpPr>
            <a:spLocks noGrp="1"/>
          </p:cNvSpPr>
          <p:nvPr>
            <p:ph type="body"/>
          </p:nvPr>
        </p:nvSpPr>
        <p:spPr>
          <a:xfrm>
            <a:off x="311760" y="2936880"/>
            <a:ext cx="8520120" cy="162936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29" name="PlaceHolder 2"/>
          <p:cNvSpPr>
            <a:spLocks noGrp="1"/>
          </p:cNvSpPr>
          <p:nvPr>
            <p:ph type="body"/>
          </p:nvPr>
        </p:nvSpPr>
        <p:spPr>
          <a:xfrm>
            <a:off x="311760" y="115236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30" name="PlaceHolder 3"/>
          <p:cNvSpPr>
            <a:spLocks noGrp="1"/>
          </p:cNvSpPr>
          <p:nvPr>
            <p:ph type="body"/>
          </p:nvPr>
        </p:nvSpPr>
        <p:spPr>
          <a:xfrm>
            <a:off x="4677840" y="115236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31" name="PlaceHolder 4"/>
          <p:cNvSpPr>
            <a:spLocks noGrp="1"/>
          </p:cNvSpPr>
          <p:nvPr>
            <p:ph type="body"/>
          </p:nvPr>
        </p:nvSpPr>
        <p:spPr>
          <a:xfrm>
            <a:off x="311760" y="293688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32" name="PlaceHolder 5"/>
          <p:cNvSpPr>
            <a:spLocks noGrp="1"/>
          </p:cNvSpPr>
          <p:nvPr>
            <p:ph type="body"/>
          </p:nvPr>
        </p:nvSpPr>
        <p:spPr>
          <a:xfrm>
            <a:off x="4677840" y="293688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34" name="PlaceHolder 2"/>
          <p:cNvSpPr>
            <a:spLocks noGrp="1"/>
          </p:cNvSpPr>
          <p:nvPr>
            <p:ph type="body"/>
          </p:nvPr>
        </p:nvSpPr>
        <p:spPr>
          <a:xfrm>
            <a:off x="311760" y="1152360"/>
            <a:ext cx="274320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35" name="PlaceHolder 3"/>
          <p:cNvSpPr>
            <a:spLocks noGrp="1"/>
          </p:cNvSpPr>
          <p:nvPr>
            <p:ph type="body"/>
          </p:nvPr>
        </p:nvSpPr>
        <p:spPr>
          <a:xfrm>
            <a:off x="3192480" y="1152360"/>
            <a:ext cx="274320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36" name="PlaceHolder 4"/>
          <p:cNvSpPr>
            <a:spLocks noGrp="1"/>
          </p:cNvSpPr>
          <p:nvPr>
            <p:ph type="body"/>
          </p:nvPr>
        </p:nvSpPr>
        <p:spPr>
          <a:xfrm>
            <a:off x="6073200" y="1152360"/>
            <a:ext cx="274320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37" name="PlaceHolder 5"/>
          <p:cNvSpPr>
            <a:spLocks noGrp="1"/>
          </p:cNvSpPr>
          <p:nvPr>
            <p:ph type="body"/>
          </p:nvPr>
        </p:nvSpPr>
        <p:spPr>
          <a:xfrm>
            <a:off x="311760" y="2936880"/>
            <a:ext cx="274320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38" name="PlaceHolder 6"/>
          <p:cNvSpPr>
            <a:spLocks noGrp="1"/>
          </p:cNvSpPr>
          <p:nvPr>
            <p:ph type="body"/>
          </p:nvPr>
        </p:nvSpPr>
        <p:spPr>
          <a:xfrm>
            <a:off x="3192480" y="2936880"/>
            <a:ext cx="274320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39" name="PlaceHolder 7"/>
          <p:cNvSpPr>
            <a:spLocks noGrp="1"/>
          </p:cNvSpPr>
          <p:nvPr>
            <p:ph type="body"/>
          </p:nvPr>
        </p:nvSpPr>
        <p:spPr>
          <a:xfrm>
            <a:off x="6073200" y="2936880"/>
            <a:ext cx="2743200" cy="162936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45" name="PlaceHolder 2"/>
          <p:cNvSpPr>
            <a:spLocks noGrp="1"/>
          </p:cNvSpPr>
          <p:nvPr>
            <p:ph type="subTitle"/>
          </p:nvPr>
        </p:nvSpPr>
        <p:spPr>
          <a:xfrm>
            <a:off x="311760" y="1152360"/>
            <a:ext cx="8520120" cy="341604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47" name="PlaceHolder 2"/>
          <p:cNvSpPr>
            <a:spLocks noGrp="1"/>
          </p:cNvSpPr>
          <p:nvPr>
            <p:ph type="body"/>
          </p:nvPr>
        </p:nvSpPr>
        <p:spPr>
          <a:xfrm>
            <a:off x="311760" y="1152360"/>
            <a:ext cx="8520120" cy="341604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49" name="PlaceHolder 2"/>
          <p:cNvSpPr>
            <a:spLocks noGrp="1"/>
          </p:cNvSpPr>
          <p:nvPr>
            <p:ph type="body"/>
          </p:nvPr>
        </p:nvSpPr>
        <p:spPr>
          <a:xfrm>
            <a:off x="311760" y="1152360"/>
            <a:ext cx="4157640" cy="3416040"/>
          </a:xfrm>
          <a:prstGeom prst="rect">
            <a:avLst/>
          </a:prstGeom>
        </p:spPr>
        <p:txBody>
          <a:bodyPr lIns="0" rIns="0" tIns="0" bIns="0">
            <a:normAutofit/>
          </a:bodyPr>
          <a:p>
            <a:endParaRPr b="0" lang="en-US" sz="1400" spc="-1" strike="noStrike">
              <a:solidFill>
                <a:srgbClr val="000000"/>
              </a:solidFill>
              <a:latin typeface="Arial"/>
            </a:endParaRPr>
          </a:p>
        </p:txBody>
      </p:sp>
      <p:sp>
        <p:nvSpPr>
          <p:cNvPr id="50" name="PlaceHolder 3"/>
          <p:cNvSpPr>
            <a:spLocks noGrp="1"/>
          </p:cNvSpPr>
          <p:nvPr>
            <p:ph type="body"/>
          </p:nvPr>
        </p:nvSpPr>
        <p:spPr>
          <a:xfrm>
            <a:off x="4677840" y="1152360"/>
            <a:ext cx="4157640" cy="341604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311760" y="444960"/>
            <a:ext cx="8520120" cy="265464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54" name="PlaceHolder 2"/>
          <p:cNvSpPr>
            <a:spLocks noGrp="1"/>
          </p:cNvSpPr>
          <p:nvPr>
            <p:ph type="body"/>
          </p:nvPr>
        </p:nvSpPr>
        <p:spPr>
          <a:xfrm>
            <a:off x="311760" y="115236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55" name="PlaceHolder 3"/>
          <p:cNvSpPr>
            <a:spLocks noGrp="1"/>
          </p:cNvSpPr>
          <p:nvPr>
            <p:ph type="body"/>
          </p:nvPr>
        </p:nvSpPr>
        <p:spPr>
          <a:xfrm>
            <a:off x="4677840" y="1152360"/>
            <a:ext cx="4157640" cy="3416040"/>
          </a:xfrm>
          <a:prstGeom prst="rect">
            <a:avLst/>
          </a:prstGeom>
        </p:spPr>
        <p:txBody>
          <a:bodyPr lIns="0" rIns="0" tIns="0" bIns="0">
            <a:normAutofit/>
          </a:bodyPr>
          <a:p>
            <a:endParaRPr b="0" lang="en-US" sz="1400" spc="-1" strike="noStrike">
              <a:solidFill>
                <a:srgbClr val="000000"/>
              </a:solidFill>
              <a:latin typeface="Arial"/>
            </a:endParaRPr>
          </a:p>
        </p:txBody>
      </p:sp>
      <p:sp>
        <p:nvSpPr>
          <p:cNvPr id="56" name="PlaceHolder 4"/>
          <p:cNvSpPr>
            <a:spLocks noGrp="1"/>
          </p:cNvSpPr>
          <p:nvPr>
            <p:ph type="body"/>
          </p:nvPr>
        </p:nvSpPr>
        <p:spPr>
          <a:xfrm>
            <a:off x="311760" y="293688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58" name="PlaceHolder 2"/>
          <p:cNvSpPr>
            <a:spLocks noGrp="1"/>
          </p:cNvSpPr>
          <p:nvPr>
            <p:ph type="body"/>
          </p:nvPr>
        </p:nvSpPr>
        <p:spPr>
          <a:xfrm>
            <a:off x="311760" y="1152360"/>
            <a:ext cx="4157640" cy="3416040"/>
          </a:xfrm>
          <a:prstGeom prst="rect">
            <a:avLst/>
          </a:prstGeom>
        </p:spPr>
        <p:txBody>
          <a:bodyPr lIns="0" rIns="0" tIns="0" bIns="0">
            <a:normAutofit/>
          </a:bodyPr>
          <a:p>
            <a:endParaRPr b="0" lang="en-US" sz="1400" spc="-1" strike="noStrike">
              <a:solidFill>
                <a:srgbClr val="000000"/>
              </a:solidFill>
              <a:latin typeface="Arial"/>
            </a:endParaRPr>
          </a:p>
        </p:txBody>
      </p:sp>
      <p:sp>
        <p:nvSpPr>
          <p:cNvPr id="59" name="PlaceHolder 3"/>
          <p:cNvSpPr>
            <a:spLocks noGrp="1"/>
          </p:cNvSpPr>
          <p:nvPr>
            <p:ph type="body"/>
          </p:nvPr>
        </p:nvSpPr>
        <p:spPr>
          <a:xfrm>
            <a:off x="4677840" y="115236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60" name="PlaceHolder 4"/>
          <p:cNvSpPr>
            <a:spLocks noGrp="1"/>
          </p:cNvSpPr>
          <p:nvPr>
            <p:ph type="body"/>
          </p:nvPr>
        </p:nvSpPr>
        <p:spPr>
          <a:xfrm>
            <a:off x="4677840" y="293688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62" name="PlaceHolder 2"/>
          <p:cNvSpPr>
            <a:spLocks noGrp="1"/>
          </p:cNvSpPr>
          <p:nvPr>
            <p:ph type="body"/>
          </p:nvPr>
        </p:nvSpPr>
        <p:spPr>
          <a:xfrm>
            <a:off x="311760" y="115236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63" name="PlaceHolder 3"/>
          <p:cNvSpPr>
            <a:spLocks noGrp="1"/>
          </p:cNvSpPr>
          <p:nvPr>
            <p:ph type="body"/>
          </p:nvPr>
        </p:nvSpPr>
        <p:spPr>
          <a:xfrm>
            <a:off x="4677840" y="115236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64" name="PlaceHolder 4"/>
          <p:cNvSpPr>
            <a:spLocks noGrp="1"/>
          </p:cNvSpPr>
          <p:nvPr>
            <p:ph type="body"/>
          </p:nvPr>
        </p:nvSpPr>
        <p:spPr>
          <a:xfrm>
            <a:off x="311760" y="2936880"/>
            <a:ext cx="8520120" cy="162936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66" name="PlaceHolder 2"/>
          <p:cNvSpPr>
            <a:spLocks noGrp="1"/>
          </p:cNvSpPr>
          <p:nvPr>
            <p:ph type="body"/>
          </p:nvPr>
        </p:nvSpPr>
        <p:spPr>
          <a:xfrm>
            <a:off x="311760" y="1152360"/>
            <a:ext cx="852012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67" name="PlaceHolder 3"/>
          <p:cNvSpPr>
            <a:spLocks noGrp="1"/>
          </p:cNvSpPr>
          <p:nvPr>
            <p:ph type="body"/>
          </p:nvPr>
        </p:nvSpPr>
        <p:spPr>
          <a:xfrm>
            <a:off x="311760" y="2936880"/>
            <a:ext cx="8520120" cy="162936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69" name="PlaceHolder 2"/>
          <p:cNvSpPr>
            <a:spLocks noGrp="1"/>
          </p:cNvSpPr>
          <p:nvPr>
            <p:ph type="body"/>
          </p:nvPr>
        </p:nvSpPr>
        <p:spPr>
          <a:xfrm>
            <a:off x="311760" y="115236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70" name="PlaceHolder 3"/>
          <p:cNvSpPr>
            <a:spLocks noGrp="1"/>
          </p:cNvSpPr>
          <p:nvPr>
            <p:ph type="body"/>
          </p:nvPr>
        </p:nvSpPr>
        <p:spPr>
          <a:xfrm>
            <a:off x="4677840" y="115236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71" name="PlaceHolder 4"/>
          <p:cNvSpPr>
            <a:spLocks noGrp="1"/>
          </p:cNvSpPr>
          <p:nvPr>
            <p:ph type="body"/>
          </p:nvPr>
        </p:nvSpPr>
        <p:spPr>
          <a:xfrm>
            <a:off x="311760" y="293688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72" name="PlaceHolder 5"/>
          <p:cNvSpPr>
            <a:spLocks noGrp="1"/>
          </p:cNvSpPr>
          <p:nvPr>
            <p:ph type="body"/>
          </p:nvPr>
        </p:nvSpPr>
        <p:spPr>
          <a:xfrm>
            <a:off x="4677840" y="2936880"/>
            <a:ext cx="4157640" cy="162936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311760" y="444960"/>
            <a:ext cx="8520120" cy="57240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74" name="PlaceHolder 2"/>
          <p:cNvSpPr>
            <a:spLocks noGrp="1"/>
          </p:cNvSpPr>
          <p:nvPr>
            <p:ph type="body"/>
          </p:nvPr>
        </p:nvSpPr>
        <p:spPr>
          <a:xfrm>
            <a:off x="311760" y="1152360"/>
            <a:ext cx="274320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75" name="PlaceHolder 3"/>
          <p:cNvSpPr>
            <a:spLocks noGrp="1"/>
          </p:cNvSpPr>
          <p:nvPr>
            <p:ph type="body"/>
          </p:nvPr>
        </p:nvSpPr>
        <p:spPr>
          <a:xfrm>
            <a:off x="3192480" y="1152360"/>
            <a:ext cx="274320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76" name="PlaceHolder 4"/>
          <p:cNvSpPr>
            <a:spLocks noGrp="1"/>
          </p:cNvSpPr>
          <p:nvPr>
            <p:ph type="body"/>
          </p:nvPr>
        </p:nvSpPr>
        <p:spPr>
          <a:xfrm>
            <a:off x="6073200" y="1152360"/>
            <a:ext cx="274320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77" name="PlaceHolder 5"/>
          <p:cNvSpPr>
            <a:spLocks noGrp="1"/>
          </p:cNvSpPr>
          <p:nvPr>
            <p:ph type="body"/>
          </p:nvPr>
        </p:nvSpPr>
        <p:spPr>
          <a:xfrm>
            <a:off x="311760" y="2936880"/>
            <a:ext cx="274320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78" name="PlaceHolder 6"/>
          <p:cNvSpPr>
            <a:spLocks noGrp="1"/>
          </p:cNvSpPr>
          <p:nvPr>
            <p:ph type="body"/>
          </p:nvPr>
        </p:nvSpPr>
        <p:spPr>
          <a:xfrm>
            <a:off x="3192480" y="2936880"/>
            <a:ext cx="2743200" cy="1629360"/>
          </a:xfrm>
          <a:prstGeom prst="rect">
            <a:avLst/>
          </a:prstGeom>
        </p:spPr>
        <p:txBody>
          <a:bodyPr lIns="0" rIns="0" tIns="0" bIns="0">
            <a:normAutofit/>
          </a:bodyPr>
          <a:p>
            <a:endParaRPr b="0" lang="en-US" sz="1400" spc="-1" strike="noStrike">
              <a:solidFill>
                <a:srgbClr val="000000"/>
              </a:solidFill>
              <a:latin typeface="Arial"/>
            </a:endParaRPr>
          </a:p>
        </p:txBody>
      </p:sp>
      <p:sp>
        <p:nvSpPr>
          <p:cNvPr id="79" name="PlaceHolder 7"/>
          <p:cNvSpPr>
            <a:spLocks noGrp="1"/>
          </p:cNvSpPr>
          <p:nvPr>
            <p:ph type="body"/>
          </p:nvPr>
        </p:nvSpPr>
        <p:spPr>
          <a:xfrm>
            <a:off x="6073200" y="2936880"/>
            <a:ext cx="2743200" cy="162936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02729"/>
        </a:solidFill>
      </p:bgPr>
    </p:bg>
    <p:spTree>
      <p:nvGrpSpPr>
        <p:cNvPr id="1" name=""/>
        <p:cNvGrpSpPr/>
        <p:nvPr/>
      </p:nvGrpSpPr>
      <p:grpSpPr>
        <a:xfrm>
          <a:off x="0" y="0"/>
          <a:ext cx="0" cy="0"/>
          <a:chOff x="0" y="0"/>
          <a:chExt cx="0" cy="0"/>
        </a:xfrm>
      </p:grpSpPr>
      <p:sp>
        <p:nvSpPr>
          <p:cNvPr id="0" name="CustomShape 1"/>
          <p:cNvSpPr/>
          <p:nvPr/>
        </p:nvSpPr>
        <p:spPr>
          <a:xfrm>
            <a:off x="0" y="2998080"/>
            <a:ext cx="9143640" cy="360"/>
          </a:xfrm>
          <a:custGeom>
            <a:avLst/>
            <a:gdLst/>
            <a:ahLst/>
            <a:rect l="l" t="t" r="r" b="b"/>
            <a:pathLst>
              <a:path w="21600" h="21600">
                <a:moveTo>
                  <a:pt x="0" y="0"/>
                </a:moveTo>
                <a:lnTo>
                  <a:pt x="21600" y="21600"/>
                </a:lnTo>
              </a:path>
            </a:pathLst>
          </a:custGeom>
          <a:noFill/>
          <a:ln w="19080">
            <a:solidFill>
              <a:schemeClr val="lt2"/>
            </a:solidFill>
            <a:round/>
          </a:ln>
        </p:spPr>
        <p:style>
          <a:lnRef idx="0"/>
          <a:fillRef idx="0"/>
          <a:effectRef idx="0"/>
          <a:fontRef idx="minor"/>
        </p:style>
      </p:sp>
      <p:sp>
        <p:nvSpPr>
          <p:cNvPr id="1" name="PlaceHolder 2"/>
          <p:cNvSpPr>
            <a:spLocks noGrp="1"/>
          </p:cNvSpPr>
          <p:nvPr>
            <p:ph type="title"/>
          </p:nvPr>
        </p:nvSpPr>
        <p:spPr>
          <a:xfrm>
            <a:off x="510480" y="1257480"/>
            <a:ext cx="8122680" cy="1588320"/>
          </a:xfrm>
          <a:prstGeom prst="rect">
            <a:avLst/>
          </a:prstGeom>
        </p:spPr>
        <p:txBody>
          <a:bodyPr tIns="91440" bIns="91440" anchor="b">
            <a:normAutofit/>
          </a:bodyPr>
          <a:p>
            <a:r>
              <a:rPr b="0" lang="en-US" sz="4800" spc="-1" strike="noStrike">
                <a:solidFill>
                  <a:srgbClr val="000000"/>
                </a:solidFill>
                <a:latin typeface="Arial"/>
              </a:rPr>
              <a:t>Click to edit the title text format</a:t>
            </a:r>
            <a:endParaRPr b="0" lang="en-US" sz="4800" spc="-1" strike="noStrike">
              <a:solidFill>
                <a:srgbClr val="000000"/>
              </a:solidFill>
              <a:latin typeface="Arial"/>
            </a:endParaRPr>
          </a:p>
        </p:txBody>
      </p:sp>
      <p:sp>
        <p:nvSpPr>
          <p:cNvPr id="2" name="PlaceHolder 3"/>
          <p:cNvSpPr>
            <a:spLocks noGrp="1"/>
          </p:cNvSpPr>
          <p:nvPr>
            <p:ph type="sldNum"/>
          </p:nvPr>
        </p:nvSpPr>
        <p:spPr>
          <a:xfrm>
            <a:off x="8472600" y="4663080"/>
            <a:ext cx="548280" cy="393120"/>
          </a:xfrm>
          <a:prstGeom prst="rect">
            <a:avLst/>
          </a:prstGeom>
        </p:spPr>
        <p:txBody>
          <a:bodyPr tIns="91440" bIns="91440" anchor="ctr">
            <a:normAutofit/>
          </a:bodyPr>
          <a:p>
            <a:pPr algn="r">
              <a:lnSpc>
                <a:spcPct val="100000"/>
              </a:lnSpc>
            </a:pPr>
            <a:fld id="{62B6292A-6B47-4001-BFDC-C40D7CC225A2}" type="slidenum">
              <a:rPr b="0" lang="en-US" sz="1000" spc="-1" strike="noStrike">
                <a:solidFill>
                  <a:srgbClr val="ffffff"/>
                </a:solidFill>
                <a:latin typeface="Proxima Nova"/>
                <a:ea typeface="Proxima Nova"/>
              </a:rPr>
              <a:t>&lt;number&gt;</a:t>
            </a:fld>
            <a:endParaRPr b="0" lang="en-US" sz="1000" spc="-1" strike="noStrike">
              <a:latin typeface="Times New Roman"/>
            </a:endParaRPr>
          </a:p>
        </p:txBody>
      </p:sp>
      <p:sp>
        <p:nvSpPr>
          <p:cNvPr id="3" name="PlaceHolder 4"/>
          <p:cNvSpPr>
            <a:spLocks noGrp="1"/>
          </p:cNvSpPr>
          <p:nvPr>
            <p:ph type="body"/>
          </p:nvPr>
        </p:nvSpPr>
        <p:spPr>
          <a:xfrm>
            <a:off x="457200" y="1203480"/>
            <a:ext cx="8229240" cy="2982960"/>
          </a:xfrm>
          <a:prstGeom prst="rect">
            <a:avLst/>
          </a:prstGeom>
        </p:spPr>
        <p:txBody>
          <a:bodyPr lIns="0" rIns="0" tIns="0" bIns="0">
            <a:normAutofit/>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CustomShape 1"/>
          <p:cNvSpPr/>
          <p:nvPr/>
        </p:nvSpPr>
        <p:spPr>
          <a:xfrm>
            <a:off x="0" y="5045760"/>
            <a:ext cx="9143640" cy="97560"/>
          </a:xfrm>
          <a:prstGeom prst="rect">
            <a:avLst/>
          </a:prstGeom>
          <a:solidFill>
            <a:schemeClr val="lt2"/>
          </a:solidFill>
          <a:ln>
            <a:noFill/>
          </a:ln>
        </p:spPr>
        <p:style>
          <a:lnRef idx="0"/>
          <a:fillRef idx="0"/>
          <a:effectRef idx="0"/>
          <a:fontRef idx="minor"/>
        </p:style>
      </p:sp>
      <p:sp>
        <p:nvSpPr>
          <p:cNvPr id="41" name="PlaceHolder 2"/>
          <p:cNvSpPr>
            <a:spLocks noGrp="1"/>
          </p:cNvSpPr>
          <p:nvPr>
            <p:ph type="title"/>
          </p:nvPr>
        </p:nvSpPr>
        <p:spPr>
          <a:xfrm>
            <a:off x="311760" y="444960"/>
            <a:ext cx="8520120" cy="572400"/>
          </a:xfrm>
          <a:prstGeom prst="rect">
            <a:avLst/>
          </a:prstGeom>
        </p:spPr>
        <p:txBody>
          <a:bodyPr tIns="91440" bIns="91440">
            <a:normAutofit fontScale="97000"/>
          </a:bodyPr>
          <a:p>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42" name="PlaceHolder 3"/>
          <p:cNvSpPr>
            <a:spLocks noGrp="1"/>
          </p:cNvSpPr>
          <p:nvPr>
            <p:ph type="body"/>
          </p:nvPr>
        </p:nvSpPr>
        <p:spPr>
          <a:xfrm>
            <a:off x="311760" y="1152360"/>
            <a:ext cx="8520120" cy="3416040"/>
          </a:xfrm>
          <a:prstGeom prst="rect">
            <a:avLst/>
          </a:prstGeom>
        </p:spPr>
        <p:txBody>
          <a:bodyPr tIns="91440" bIns="91440">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3" name="PlaceHolder 4"/>
          <p:cNvSpPr>
            <a:spLocks noGrp="1"/>
          </p:cNvSpPr>
          <p:nvPr>
            <p:ph type="sldNum"/>
          </p:nvPr>
        </p:nvSpPr>
        <p:spPr>
          <a:xfrm>
            <a:off x="8472600" y="4663080"/>
            <a:ext cx="548280" cy="393120"/>
          </a:xfrm>
          <a:prstGeom prst="rect">
            <a:avLst/>
          </a:prstGeom>
        </p:spPr>
        <p:txBody>
          <a:bodyPr tIns="91440" bIns="91440" anchor="ctr">
            <a:normAutofit/>
          </a:bodyPr>
          <a:p>
            <a:pPr algn="r">
              <a:lnSpc>
                <a:spcPct val="100000"/>
              </a:lnSpc>
            </a:pPr>
            <a:fld id="{CDB673BC-631D-401F-8646-7294D812F71B}" type="slidenum">
              <a:rPr b="0" lang="en-US" sz="1000" spc="-1" strike="noStrike">
                <a:solidFill>
                  <a:srgbClr val="202729"/>
                </a:solidFill>
                <a:latin typeface="Proxima Nova"/>
                <a:ea typeface="Proxima Nova"/>
              </a:rPr>
              <a:t>&lt;number&gt;</a:t>
            </a:fld>
            <a:endParaRPr b="0" lang="en-US" sz="10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5.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5.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5.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5.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5.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5.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5.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5.xml"/>
</Relationships>
</file>

<file path=ppt/slides/_rels/slide1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5.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5.xml"/>
</Relationships>
</file>

<file path=ppt/slides/_rels/slide1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5.xml"/>
</Relationships>
</file>

<file path=ppt/slides/_rels/slide17.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5.xml"/>
</Relationships>
</file>

<file path=ppt/slides/_rels/slide1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TextShape 1"/>
          <p:cNvSpPr txBox="1"/>
          <p:nvPr/>
        </p:nvSpPr>
        <p:spPr>
          <a:xfrm>
            <a:off x="510480" y="1257480"/>
            <a:ext cx="8122680" cy="1588320"/>
          </a:xfrm>
          <a:prstGeom prst="rect">
            <a:avLst/>
          </a:prstGeom>
          <a:noFill/>
          <a:ln>
            <a:noFill/>
          </a:ln>
        </p:spPr>
        <p:txBody>
          <a:bodyPr tIns="91440" bIns="91440" anchor="b">
            <a:normAutofit fontScale="78000"/>
          </a:bodyPr>
          <a:p>
            <a:pPr>
              <a:lnSpc>
                <a:spcPct val="100000"/>
              </a:lnSpc>
            </a:pPr>
            <a:r>
              <a:rPr b="0" lang="en-US" sz="4800" spc="-1" strike="noStrike">
                <a:solidFill>
                  <a:srgbClr val="ffffff"/>
                </a:solidFill>
                <a:latin typeface="Proxima Nova"/>
                <a:ea typeface="Proxima Nova"/>
              </a:rPr>
              <a:t>100 Years of College Football</a:t>
            </a:r>
            <a:endParaRPr b="0" lang="en-US" sz="4800" spc="-1" strike="noStrike">
              <a:solidFill>
                <a:srgbClr val="000000"/>
              </a:solidFill>
              <a:latin typeface="Arial"/>
            </a:endParaRPr>
          </a:p>
        </p:txBody>
      </p:sp>
      <p:sp>
        <p:nvSpPr>
          <p:cNvPr id="81" name="TextShape 2"/>
          <p:cNvSpPr txBox="1"/>
          <p:nvPr/>
        </p:nvSpPr>
        <p:spPr>
          <a:xfrm>
            <a:off x="510480" y="3182400"/>
            <a:ext cx="8122680" cy="629640"/>
          </a:xfrm>
          <a:prstGeom prst="rect">
            <a:avLst/>
          </a:prstGeom>
          <a:noFill/>
          <a:ln>
            <a:noFill/>
          </a:ln>
        </p:spPr>
        <p:txBody>
          <a:bodyPr tIns="91440" bIns="91440">
            <a:normAutofit/>
          </a:bodyPr>
          <a:p>
            <a:pPr>
              <a:lnSpc>
                <a:spcPct val="100000"/>
              </a:lnSpc>
            </a:pPr>
            <a:r>
              <a:rPr b="0" lang="en-US" sz="2400" spc="-1" strike="noStrike">
                <a:solidFill>
                  <a:srgbClr val="ffffff"/>
                </a:solidFill>
                <a:latin typeface="Proxima Nova"/>
                <a:ea typeface="Proxima Nova"/>
              </a:rPr>
              <a:t>Which Conference is the Best?</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TextShape 1"/>
          <p:cNvSpPr txBox="1"/>
          <p:nvPr/>
        </p:nvSpPr>
        <p:spPr>
          <a:xfrm>
            <a:off x="311760" y="444960"/>
            <a:ext cx="8520120" cy="572400"/>
          </a:xfrm>
          <a:prstGeom prst="rect">
            <a:avLst/>
          </a:prstGeom>
          <a:noFill/>
          <a:ln>
            <a:noFill/>
          </a:ln>
        </p:spPr>
        <p:txBody>
          <a:bodyPr tIns="91440" bIns="91440">
            <a:normAutofit fontScale="73000"/>
          </a:bodyPr>
          <a:p>
            <a:pPr>
              <a:lnSpc>
                <a:spcPct val="100000"/>
              </a:lnSpc>
            </a:pPr>
            <a:r>
              <a:rPr b="0" lang="en-US" sz="2800" spc="-1" strike="noStrike">
                <a:solidFill>
                  <a:srgbClr val="202729"/>
                </a:solidFill>
                <a:latin typeface="Proxima Nova"/>
                <a:ea typeface="Proxima Nova"/>
              </a:rPr>
              <a:t>Overview</a:t>
            </a:r>
            <a:endParaRPr b="0" lang="en-US" sz="2800" spc="-1" strike="noStrike">
              <a:solidFill>
                <a:srgbClr val="000000"/>
              </a:solidFill>
              <a:latin typeface="Arial"/>
            </a:endParaRPr>
          </a:p>
        </p:txBody>
      </p:sp>
      <p:sp>
        <p:nvSpPr>
          <p:cNvPr id="83" name="TextShape 2"/>
          <p:cNvSpPr txBox="1"/>
          <p:nvPr/>
        </p:nvSpPr>
        <p:spPr>
          <a:xfrm>
            <a:off x="311760" y="1152360"/>
            <a:ext cx="8520120" cy="3416040"/>
          </a:xfrm>
          <a:prstGeom prst="rect">
            <a:avLst/>
          </a:prstGeom>
          <a:noFill/>
          <a:ln>
            <a:noFill/>
          </a:ln>
        </p:spPr>
        <p:txBody>
          <a:bodyPr tIns="91440" bIns="91440">
            <a:normAutofit/>
          </a:bodyPr>
          <a:p>
            <a:pPr>
              <a:lnSpc>
                <a:spcPct val="115000"/>
              </a:lnSpc>
            </a:pPr>
            <a:r>
              <a:rPr b="0" lang="en-US" sz="1800" spc="-1" strike="noStrike">
                <a:solidFill>
                  <a:srgbClr val="616161"/>
                </a:solidFill>
                <a:latin typeface="Proxima Nova"/>
                <a:ea typeface="Proxima Nova"/>
              </a:rPr>
              <a:t>Many have proposed various methods for declaring what FBS College Football conference is "The Strongest Conference". Some could cite the number of National Championships, Bowl games, highest ratings, game attendance, or even revenue.</a:t>
            </a:r>
            <a:endParaRPr b="0" lang="en-US" sz="1800" spc="-1" strike="noStrike">
              <a:solidFill>
                <a:srgbClr val="000000"/>
              </a:solidFill>
              <a:latin typeface="Arial"/>
            </a:endParaRPr>
          </a:p>
          <a:p>
            <a:pPr>
              <a:lnSpc>
                <a:spcPct val="115000"/>
              </a:lnSpc>
              <a:spcBef>
                <a:spcPts val="1199"/>
              </a:spcBef>
            </a:pPr>
            <a:r>
              <a:rPr b="0" lang="en-US" sz="1800" spc="-1" strike="noStrike">
                <a:solidFill>
                  <a:srgbClr val="616161"/>
                </a:solidFill>
                <a:latin typeface="Proxima Nova"/>
                <a:ea typeface="Proxima Nova"/>
              </a:rPr>
              <a:t>This analysis seeks to see the trends (season-to-season for the last 100 years) of conference strength defined as the non-conference win percentage for that conference.</a:t>
            </a:r>
            <a:endParaRPr b="0" lang="en-US" sz="1800" spc="-1" strike="noStrike">
              <a:solidFill>
                <a:srgbClr val="000000"/>
              </a:solidFill>
              <a:latin typeface="Arial"/>
            </a:endParaRPr>
          </a:p>
          <a:p>
            <a:pPr>
              <a:lnSpc>
                <a:spcPct val="115000"/>
              </a:lnSpc>
              <a:spcBef>
                <a:spcPts val="1199"/>
              </a:spcBef>
              <a:spcAft>
                <a:spcPts val="1199"/>
              </a:spcAf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TextShape 1"/>
          <p:cNvSpPr txBox="1"/>
          <p:nvPr/>
        </p:nvSpPr>
        <p:spPr>
          <a:xfrm>
            <a:off x="311760" y="444960"/>
            <a:ext cx="8520120" cy="572400"/>
          </a:xfrm>
          <a:prstGeom prst="rect">
            <a:avLst/>
          </a:prstGeom>
          <a:noFill/>
          <a:ln>
            <a:noFill/>
          </a:ln>
        </p:spPr>
        <p:txBody>
          <a:bodyPr tIns="91440" bIns="91440">
            <a:normAutofit fontScale="73000"/>
          </a:bodyPr>
          <a:p>
            <a:pPr>
              <a:lnSpc>
                <a:spcPct val="100000"/>
              </a:lnSpc>
            </a:pPr>
            <a:r>
              <a:rPr b="0" lang="en-US" sz="2800" spc="-1" strike="noStrike">
                <a:solidFill>
                  <a:srgbClr val="202729"/>
                </a:solidFill>
                <a:latin typeface="Proxima Nova"/>
                <a:ea typeface="Proxima Nova"/>
              </a:rPr>
              <a:t>Definition of College Football Conferences</a:t>
            </a:r>
            <a:endParaRPr b="0" lang="en-US" sz="2800" spc="-1" strike="noStrike">
              <a:solidFill>
                <a:srgbClr val="000000"/>
              </a:solidFill>
              <a:latin typeface="Arial"/>
            </a:endParaRPr>
          </a:p>
        </p:txBody>
      </p:sp>
      <p:sp>
        <p:nvSpPr>
          <p:cNvPr id="85" name="TextShape 2"/>
          <p:cNvSpPr txBox="1"/>
          <p:nvPr/>
        </p:nvSpPr>
        <p:spPr>
          <a:xfrm>
            <a:off x="311760" y="1152360"/>
            <a:ext cx="8520120" cy="3416040"/>
          </a:xfrm>
          <a:prstGeom prst="rect">
            <a:avLst/>
          </a:prstGeom>
          <a:noFill/>
          <a:ln>
            <a:noFill/>
          </a:ln>
        </p:spPr>
        <p:txBody>
          <a:bodyPr tIns="91440" bIns="91440">
            <a:normAutofit/>
          </a:bodyPr>
          <a:p>
            <a:pPr>
              <a:lnSpc>
                <a:spcPct val="115000"/>
              </a:lnSpc>
            </a:pPr>
            <a:r>
              <a:rPr b="0" lang="en-US" sz="1800" spc="-1" strike="noStrike">
                <a:solidFill>
                  <a:srgbClr val="616161"/>
                </a:solidFill>
                <a:latin typeface="Proxima Nova"/>
                <a:ea typeface="Proxima Nova"/>
              </a:rPr>
              <a:t>College football teams organize themselves into groups called “conferences.” These will typically consist of 16-18 teams that will each play most of their 12-13 game season against each other. However, each team plays 4-5 games outside their conference allowing a comparison between conferences. If one conference loses frequently, that can be evidence demonstrating they are not as good.</a:t>
            </a:r>
            <a:endParaRPr b="0" lang="en-US" sz="1800" spc="-1" strike="noStrike">
              <a:solidFill>
                <a:srgbClr val="000000"/>
              </a:solidFill>
              <a:latin typeface="Arial"/>
            </a:endParaRPr>
          </a:p>
          <a:p>
            <a:pPr>
              <a:lnSpc>
                <a:spcPct val="115000"/>
              </a:lnSpc>
              <a:spcBef>
                <a:spcPts val="1199"/>
              </a:spcBef>
              <a:spcAft>
                <a:spcPts val="1199"/>
              </a:spcAft>
            </a:pPr>
            <a:r>
              <a:rPr b="0" lang="en-US" sz="1800" spc="-1" strike="noStrike">
                <a:solidFill>
                  <a:srgbClr val="616161"/>
                </a:solidFill>
                <a:latin typeface="Proxima Nova"/>
                <a:ea typeface="Proxima Nova"/>
              </a:rPr>
              <a:t>Their are typically three groups of conferences as outlined below:</a:t>
            </a:r>
            <a:endParaRPr b="0" lang="en-US" sz="1800" spc="-1" strike="noStrike">
              <a:solidFill>
                <a:srgbClr val="000000"/>
              </a:solidFill>
              <a:latin typeface="Arial"/>
            </a:endParaRPr>
          </a:p>
        </p:txBody>
      </p:sp>
      <p:graphicFrame>
        <p:nvGraphicFramePr>
          <p:cNvPr id="86" name="Table 3"/>
          <p:cNvGraphicFramePr/>
          <p:nvPr/>
        </p:nvGraphicFramePr>
        <p:xfrm>
          <a:off x="311760" y="3583440"/>
          <a:ext cx="8520120" cy="1370880"/>
        </p:xfrm>
        <a:graphic>
          <a:graphicData uri="http://schemas.openxmlformats.org/drawingml/2006/table">
            <a:tbl>
              <a:tblPr/>
              <a:tblGrid>
                <a:gridCol w="2840040"/>
                <a:gridCol w="2840040"/>
                <a:gridCol w="2840040"/>
              </a:tblGrid>
              <a:tr h="235800">
                <a:tc>
                  <a:txBody>
                    <a:bodyPr lIns="91080" rIns="91080" tIns="0" bIns="0" anchor="ctr">
                      <a:noAutofit/>
                    </a:bodyPr>
                    <a:p>
                      <a:pPr>
                        <a:lnSpc>
                          <a:spcPct val="100000"/>
                        </a:lnSpc>
                      </a:pPr>
                      <a:r>
                        <a:rPr b="1" lang="en-US" sz="1200" spc="-1" strike="noStrike">
                          <a:solidFill>
                            <a:srgbClr val="000000"/>
                          </a:solidFill>
                          <a:latin typeface="Arial"/>
                          <a:ea typeface="Arial"/>
                        </a:rPr>
                        <a:t>Power 5 (Perceived to be the best)</a:t>
                      </a:r>
                      <a:endParaRPr b="0" lang="en-US" sz="1200" spc="-1" strike="noStrike">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solidFill>
                      <a:srgbClr val="63d297"/>
                    </a:solidFill>
                  </a:tcPr>
                </a:tc>
                <a:tc>
                  <a:txBody>
                    <a:bodyPr lIns="91080" rIns="91080" tIns="0" bIns="0" anchor="ctr">
                      <a:noAutofit/>
                    </a:bodyPr>
                    <a:p>
                      <a:pPr>
                        <a:lnSpc>
                          <a:spcPct val="100000"/>
                        </a:lnSpc>
                      </a:pPr>
                      <a:r>
                        <a:rPr b="1" lang="en-US" sz="1200" spc="-1" strike="noStrike">
                          <a:solidFill>
                            <a:srgbClr val="000000"/>
                          </a:solidFill>
                          <a:latin typeface="Arial"/>
                          <a:ea typeface="Arial"/>
                        </a:rPr>
                        <a:t>Group of 5</a:t>
                      </a:r>
                      <a:endParaRPr b="0" lang="en-US" sz="1200" spc="-1" strike="noStrike">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solidFill>
                      <a:srgbClr val="63d297"/>
                    </a:solidFill>
                  </a:tcPr>
                </a:tc>
                <a:tc>
                  <a:txBody>
                    <a:bodyPr lIns="91080" rIns="91080" tIns="0" bIns="0" anchor="ctr">
                      <a:noAutofit/>
                    </a:bodyPr>
                    <a:p>
                      <a:pPr>
                        <a:lnSpc>
                          <a:spcPct val="100000"/>
                        </a:lnSpc>
                      </a:pPr>
                      <a:r>
                        <a:rPr b="1" lang="en-US" sz="1200" spc="-1" strike="noStrike">
                          <a:solidFill>
                            <a:srgbClr val="000000"/>
                          </a:solidFill>
                          <a:latin typeface="Arial"/>
                          <a:ea typeface="Arial"/>
                        </a:rPr>
                        <a:t>Other</a:t>
                      </a:r>
                      <a:endParaRPr b="0" lang="en-US" sz="1200" spc="-1" strike="noStrike">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solidFill>
                      <a:srgbClr val="63d297"/>
                    </a:solidFill>
                  </a:tcPr>
                </a:tc>
              </a:tr>
              <a:tr h="226800">
                <a:tc>
                  <a:txBody>
                    <a:bodyPr lIns="91080" rIns="91080" tIns="0" bIns="0" anchor="ctr">
                      <a:noAutofit/>
                    </a:bodyPr>
                    <a:p>
                      <a:pPr>
                        <a:lnSpc>
                          <a:spcPct val="100000"/>
                        </a:lnSpc>
                      </a:pPr>
                      <a:r>
                        <a:rPr b="0" lang="en-US" sz="1200" spc="-1" strike="noStrike">
                          <a:solidFill>
                            <a:srgbClr val="000000"/>
                          </a:solidFill>
                          <a:latin typeface="Arial"/>
                          <a:ea typeface="Arial"/>
                        </a:rPr>
                        <a:t>Atlantic Coast Conference (ACC)</a:t>
                      </a:r>
                      <a:endParaRPr b="0" lang="en-US" sz="1200" spc="-1" strike="noStrike">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0" bIns="0" anchor="ctr">
                      <a:noAutofit/>
                    </a:bodyPr>
                    <a:p>
                      <a:pPr>
                        <a:lnSpc>
                          <a:spcPct val="100000"/>
                        </a:lnSpc>
                      </a:pPr>
                      <a:r>
                        <a:rPr b="0" lang="en-US" sz="1200" spc="-1" strike="noStrike">
                          <a:solidFill>
                            <a:srgbClr val="000000"/>
                          </a:solidFill>
                          <a:latin typeface="Arial"/>
                          <a:ea typeface="Arial"/>
                        </a:rPr>
                        <a:t>American Athletic Conference (AAC)</a:t>
                      </a:r>
                      <a:endParaRPr b="0" lang="en-US" sz="1200" spc="-1" strike="noStrike">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rowSpan="5">
                  <a:txBody>
                    <a:bodyPr lIns="91080" rIns="91080" tIns="0" bIns="0">
                      <a:noAutofit/>
                    </a:bodyPr>
                    <a:p>
                      <a:pPr>
                        <a:lnSpc>
                          <a:spcPct val="100000"/>
                        </a:lnSpc>
                      </a:pPr>
                      <a:r>
                        <a:rPr b="0" lang="en-US" sz="1200" spc="-1" strike="noStrike">
                          <a:solidFill>
                            <a:srgbClr val="000000"/>
                          </a:solidFill>
                          <a:latin typeface="Arial"/>
                          <a:ea typeface="Arial"/>
                        </a:rPr>
                        <a:t>FEB Independents (not formally affiliated with any conference or each other)</a:t>
                      </a:r>
                      <a:endParaRPr b="0" lang="en-US" sz="1200" spc="-1" strike="noStrike">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r>
              <a:tr h="226800">
                <a:tc>
                  <a:txBody>
                    <a:bodyPr lIns="91080" rIns="91080" tIns="0" bIns="0" anchor="ctr">
                      <a:noAutofit/>
                    </a:bodyPr>
                    <a:p>
                      <a:pPr>
                        <a:lnSpc>
                          <a:spcPct val="100000"/>
                        </a:lnSpc>
                      </a:pPr>
                      <a:r>
                        <a:rPr b="0" lang="en-US" sz="1200" spc="-1" strike="noStrike">
                          <a:solidFill>
                            <a:srgbClr val="000000"/>
                          </a:solidFill>
                          <a:latin typeface="Arial"/>
                          <a:ea typeface="Arial"/>
                        </a:rPr>
                        <a:t>Big 10</a:t>
                      </a:r>
                      <a:endParaRPr b="0" lang="en-US" sz="1200" spc="-1" strike="noStrike">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0" bIns="0" anchor="ctr">
                      <a:noAutofit/>
                    </a:bodyPr>
                    <a:p>
                      <a:pPr>
                        <a:lnSpc>
                          <a:spcPct val="100000"/>
                        </a:lnSpc>
                      </a:pPr>
                      <a:r>
                        <a:rPr b="0" lang="en-US" sz="1200" spc="-1" strike="noStrike">
                          <a:solidFill>
                            <a:srgbClr val="000000"/>
                          </a:solidFill>
                          <a:latin typeface="Arial"/>
                          <a:ea typeface="Arial"/>
                        </a:rPr>
                        <a:t>Conference USA (CUSA)</a:t>
                      </a:r>
                      <a:endParaRPr b="0" lang="en-US" sz="1200" spc="-1" strike="noStrike">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vMerge="1">
                  <a:tcPr marL="90000" marR="90000">
                    <a:solidFill>
                      <a:srgbClr val="729fcf"/>
                    </a:solidFill>
                  </a:tcPr>
                </a:tc>
              </a:tr>
              <a:tr h="226800">
                <a:tc>
                  <a:txBody>
                    <a:bodyPr lIns="91080" rIns="91080" tIns="0" bIns="0" anchor="ctr">
                      <a:noAutofit/>
                    </a:bodyPr>
                    <a:p>
                      <a:pPr>
                        <a:lnSpc>
                          <a:spcPct val="100000"/>
                        </a:lnSpc>
                      </a:pPr>
                      <a:r>
                        <a:rPr b="0" lang="en-US" sz="1200" spc="-1" strike="noStrike">
                          <a:solidFill>
                            <a:srgbClr val="000000"/>
                          </a:solidFill>
                          <a:latin typeface="Arial"/>
                          <a:ea typeface="Arial"/>
                        </a:rPr>
                        <a:t>Big 12</a:t>
                      </a:r>
                      <a:endParaRPr b="0" lang="en-US" sz="1200" spc="-1" strike="noStrike">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0" bIns="0" anchor="ctr">
                      <a:noAutofit/>
                    </a:bodyPr>
                    <a:p>
                      <a:pPr>
                        <a:lnSpc>
                          <a:spcPct val="100000"/>
                        </a:lnSpc>
                      </a:pPr>
                      <a:r>
                        <a:rPr b="0" lang="en-US" sz="1200" spc="-1" strike="noStrike">
                          <a:solidFill>
                            <a:srgbClr val="000000"/>
                          </a:solidFill>
                          <a:latin typeface="Arial"/>
                          <a:ea typeface="Arial"/>
                        </a:rPr>
                        <a:t>Mid-American (MAC)</a:t>
                      </a:r>
                      <a:endParaRPr b="0" lang="en-US" sz="1200" spc="-1" strike="noStrike">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vMerge="1">
                  <a:tcPr marL="90000" marR="90000">
                    <a:solidFill>
                      <a:srgbClr val="729fcf"/>
                    </a:solidFill>
                  </a:tcPr>
                </a:tc>
              </a:tr>
              <a:tr h="226800">
                <a:tc>
                  <a:txBody>
                    <a:bodyPr lIns="91080" rIns="91080" tIns="0" bIns="0" anchor="ctr">
                      <a:noAutofit/>
                    </a:bodyPr>
                    <a:p>
                      <a:pPr>
                        <a:lnSpc>
                          <a:spcPct val="100000"/>
                        </a:lnSpc>
                      </a:pPr>
                      <a:r>
                        <a:rPr b="0" lang="en-US" sz="1200" spc="-1" strike="noStrike">
                          <a:solidFill>
                            <a:srgbClr val="000000"/>
                          </a:solidFill>
                          <a:latin typeface="Arial"/>
                          <a:ea typeface="Arial"/>
                        </a:rPr>
                        <a:t>Pacific-12 (PAC-12)</a:t>
                      </a:r>
                      <a:endParaRPr b="0" lang="en-US" sz="1200" spc="-1" strike="noStrike">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0" bIns="0" anchor="ctr">
                      <a:noAutofit/>
                    </a:bodyPr>
                    <a:p>
                      <a:pPr>
                        <a:lnSpc>
                          <a:spcPct val="100000"/>
                        </a:lnSpc>
                      </a:pPr>
                      <a:r>
                        <a:rPr b="0" lang="en-US" sz="1200" spc="-1" strike="noStrike">
                          <a:solidFill>
                            <a:srgbClr val="000000"/>
                          </a:solidFill>
                          <a:latin typeface="Arial"/>
                          <a:ea typeface="Arial"/>
                        </a:rPr>
                        <a:t>Mountain West (MWC)</a:t>
                      </a:r>
                      <a:endParaRPr b="0" lang="en-US" sz="1200" spc="-1" strike="noStrike">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vMerge="1">
                  <a:tcPr marL="90000" marR="90000">
                    <a:solidFill>
                      <a:srgbClr val="729fcf"/>
                    </a:solidFill>
                  </a:tcPr>
                </a:tc>
              </a:tr>
              <a:tr h="227880">
                <a:tc>
                  <a:txBody>
                    <a:bodyPr lIns="91080" rIns="91080" tIns="0" bIns="0" anchor="ctr">
                      <a:noAutofit/>
                    </a:bodyPr>
                    <a:p>
                      <a:pPr>
                        <a:lnSpc>
                          <a:spcPct val="100000"/>
                        </a:lnSpc>
                      </a:pPr>
                      <a:r>
                        <a:rPr b="0" lang="en-US" sz="1200" spc="-1" strike="noStrike">
                          <a:solidFill>
                            <a:srgbClr val="000000"/>
                          </a:solidFill>
                          <a:latin typeface="Arial"/>
                          <a:ea typeface="Arial"/>
                        </a:rPr>
                        <a:t>Southeastern Conference (SEC)</a:t>
                      </a:r>
                      <a:endParaRPr b="0" lang="en-US" sz="1200" spc="-1" strike="noStrike">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0" bIns="0" anchor="ctr">
                      <a:noAutofit/>
                    </a:bodyPr>
                    <a:p>
                      <a:pPr>
                        <a:lnSpc>
                          <a:spcPct val="100000"/>
                        </a:lnSpc>
                      </a:pPr>
                      <a:r>
                        <a:rPr b="0" lang="en-US" sz="1200" spc="-1" strike="noStrike">
                          <a:solidFill>
                            <a:srgbClr val="000000"/>
                          </a:solidFill>
                          <a:latin typeface="Arial"/>
                          <a:ea typeface="Arial"/>
                        </a:rPr>
                        <a:t>Sun Belt Conference (SBC)</a:t>
                      </a:r>
                      <a:endParaRPr b="0" lang="en-US" sz="1200" spc="-1" strike="noStrike">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vMerge="1">
                  <a:tcPr marL="90000" marR="90000">
                    <a:solidFill>
                      <a:srgbClr val="729fcf"/>
                    </a:solidFill>
                  </a:tcPr>
                </a:tc>
              </a:tr>
            </a:tbl>
          </a:graphicData>
        </a:graphic>
      </p:graphicFrame>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TextShape 1"/>
          <p:cNvSpPr txBox="1"/>
          <p:nvPr/>
        </p:nvSpPr>
        <p:spPr>
          <a:xfrm>
            <a:off x="311760" y="444960"/>
            <a:ext cx="8520120" cy="572400"/>
          </a:xfrm>
          <a:prstGeom prst="rect">
            <a:avLst/>
          </a:prstGeom>
          <a:noFill/>
          <a:ln>
            <a:noFill/>
          </a:ln>
        </p:spPr>
        <p:txBody>
          <a:bodyPr tIns="91440" bIns="91440">
            <a:normAutofit fontScale="73000"/>
          </a:bodyPr>
          <a:p>
            <a:pPr>
              <a:lnSpc>
                <a:spcPct val="100000"/>
              </a:lnSpc>
            </a:pPr>
            <a:r>
              <a:rPr b="0" lang="en-US" sz="2800" spc="-1" strike="noStrike">
                <a:solidFill>
                  <a:srgbClr val="202729"/>
                </a:solidFill>
                <a:latin typeface="Proxima Nova"/>
                <a:ea typeface="Proxima Nova"/>
              </a:rPr>
              <a:t>Methodology</a:t>
            </a:r>
            <a:endParaRPr b="0" lang="en-US" sz="2800" spc="-1" strike="noStrike">
              <a:solidFill>
                <a:srgbClr val="000000"/>
              </a:solidFill>
              <a:latin typeface="Arial"/>
            </a:endParaRPr>
          </a:p>
        </p:txBody>
      </p:sp>
      <p:sp>
        <p:nvSpPr>
          <p:cNvPr id="88" name="TextShape 2"/>
          <p:cNvSpPr txBox="1"/>
          <p:nvPr/>
        </p:nvSpPr>
        <p:spPr>
          <a:xfrm>
            <a:off x="311760" y="1152360"/>
            <a:ext cx="8520120" cy="3416040"/>
          </a:xfrm>
          <a:prstGeom prst="rect">
            <a:avLst/>
          </a:prstGeom>
          <a:noFill/>
          <a:ln>
            <a:noFill/>
          </a:ln>
        </p:spPr>
        <p:txBody>
          <a:bodyPr tIns="91440" bIns="91440">
            <a:normAutofit fontScale="87000"/>
          </a:bodyPr>
          <a:p>
            <a:pPr marL="457200" indent="-342720">
              <a:lnSpc>
                <a:spcPct val="115000"/>
              </a:lnSpc>
              <a:buClr>
                <a:srgbClr val="616161"/>
              </a:buClr>
              <a:buFont typeface="Proxima Nova"/>
              <a:buChar char="●"/>
            </a:pPr>
            <a:r>
              <a:rPr b="0" lang="en-US" sz="1800" spc="-1" strike="noStrike">
                <a:solidFill>
                  <a:srgbClr val="616161"/>
                </a:solidFill>
                <a:latin typeface="Proxima Nova"/>
                <a:ea typeface="Proxima Nova"/>
              </a:rPr>
              <a:t>Data from https://collegefootballdata.com</a:t>
            </a:r>
            <a:endParaRPr b="0" lang="en-US" sz="1800" spc="-1" strike="noStrike">
              <a:solidFill>
                <a:srgbClr val="000000"/>
              </a:solidFill>
              <a:latin typeface="Arial"/>
            </a:endParaRPr>
          </a:p>
          <a:p>
            <a:pPr marL="457200" indent="-342720">
              <a:lnSpc>
                <a:spcPct val="115000"/>
              </a:lnSpc>
              <a:buClr>
                <a:srgbClr val="616161"/>
              </a:buClr>
              <a:buFont typeface="Proxima Nova"/>
              <a:buChar char="●"/>
            </a:pPr>
            <a:r>
              <a:rPr b="0" lang="en-US" sz="1800" spc="-1" strike="noStrike">
                <a:solidFill>
                  <a:srgbClr val="616161"/>
                </a:solidFill>
                <a:latin typeface="Proxima Nova"/>
                <a:ea typeface="Proxima Nova"/>
              </a:rPr>
              <a:t>I pulled data from 1923 and on, but could have gone back further.</a:t>
            </a:r>
            <a:endParaRPr b="0" lang="en-US" sz="1800" spc="-1" strike="noStrike">
              <a:solidFill>
                <a:srgbClr val="000000"/>
              </a:solidFill>
              <a:latin typeface="Arial"/>
            </a:endParaRPr>
          </a:p>
          <a:p>
            <a:pPr marL="457200" indent="-342720">
              <a:lnSpc>
                <a:spcPct val="115000"/>
              </a:lnSpc>
              <a:buClr>
                <a:srgbClr val="616161"/>
              </a:buClr>
              <a:buFont typeface="Proxima Nova"/>
              <a:buChar char="●"/>
            </a:pPr>
            <a:r>
              <a:rPr b="0" lang="en-US" sz="1800" spc="-1" strike="noStrike">
                <a:solidFill>
                  <a:srgbClr val="616161"/>
                </a:solidFill>
                <a:latin typeface="Proxima Nova"/>
                <a:ea typeface="Proxima Nova"/>
              </a:rPr>
              <a:t>Vacated wins are not vacated in this analysis.</a:t>
            </a:r>
            <a:endParaRPr b="0" lang="en-US" sz="1800" spc="-1" strike="noStrike">
              <a:solidFill>
                <a:srgbClr val="000000"/>
              </a:solidFill>
              <a:latin typeface="Arial"/>
            </a:endParaRPr>
          </a:p>
          <a:p>
            <a:pPr marL="457200" indent="-342720">
              <a:lnSpc>
                <a:spcPct val="115000"/>
              </a:lnSpc>
              <a:buClr>
                <a:srgbClr val="616161"/>
              </a:buClr>
              <a:buFont typeface="Proxima Nova"/>
              <a:buChar char="●"/>
            </a:pPr>
            <a:r>
              <a:rPr b="0" lang="en-US" sz="1800" spc="-1" strike="noStrike">
                <a:solidFill>
                  <a:srgbClr val="616161"/>
                </a:solidFill>
                <a:latin typeface="Proxima Nova"/>
                <a:ea typeface="Proxima Nova"/>
              </a:rPr>
              <a:t>Ties counted as a half-win.</a:t>
            </a:r>
            <a:endParaRPr b="0" lang="en-US" sz="1800" spc="-1" strike="noStrike">
              <a:solidFill>
                <a:srgbClr val="000000"/>
              </a:solidFill>
              <a:latin typeface="Arial"/>
            </a:endParaRPr>
          </a:p>
          <a:p>
            <a:pPr marL="457200" indent="-342720">
              <a:lnSpc>
                <a:spcPct val="115000"/>
              </a:lnSpc>
              <a:buClr>
                <a:srgbClr val="616161"/>
              </a:buClr>
              <a:buFont typeface="Proxima Nova"/>
              <a:buChar char="●"/>
            </a:pPr>
            <a:r>
              <a:rPr b="0" lang="en-US" sz="1800" spc="-1" strike="noStrike">
                <a:solidFill>
                  <a:srgbClr val="616161"/>
                </a:solidFill>
                <a:latin typeface="Proxima Nova"/>
                <a:ea typeface="Proxima Nova"/>
              </a:rPr>
              <a:t>I considered defunct conferences for the calculation of non-conference wins.</a:t>
            </a:r>
            <a:endParaRPr b="0" lang="en-US" sz="1800" spc="-1" strike="noStrike">
              <a:solidFill>
                <a:srgbClr val="000000"/>
              </a:solidFill>
              <a:latin typeface="Arial"/>
            </a:endParaRPr>
          </a:p>
          <a:p>
            <a:pPr marL="457200" indent="-342720">
              <a:lnSpc>
                <a:spcPct val="115000"/>
              </a:lnSpc>
              <a:buClr>
                <a:srgbClr val="616161"/>
              </a:buClr>
              <a:buFont typeface="Proxima Nova"/>
              <a:buChar char="●"/>
            </a:pPr>
            <a:r>
              <a:rPr b="0" lang="en-US" sz="1800" spc="-1" strike="noStrike">
                <a:solidFill>
                  <a:srgbClr val="616161"/>
                </a:solidFill>
                <a:latin typeface="Proxima Nova"/>
                <a:ea typeface="Proxima Nova"/>
              </a:rPr>
              <a:t>I tried to capture when conferences re-branded vs. collapsed. For example, when the PAC 10 became the PAC 12, I considered that the same conference (SEC did not re-brand when they added schools!). However, the exact ones to choose are up for debate.</a:t>
            </a:r>
            <a:endParaRPr b="0" lang="en-US" sz="1800" spc="-1" strike="noStrike">
              <a:solidFill>
                <a:srgbClr val="000000"/>
              </a:solidFill>
              <a:latin typeface="Arial"/>
            </a:endParaRPr>
          </a:p>
          <a:p>
            <a:pPr marL="457200" indent="-342720">
              <a:lnSpc>
                <a:spcPct val="115000"/>
              </a:lnSpc>
              <a:buClr>
                <a:srgbClr val="616161"/>
              </a:buClr>
              <a:buFont typeface="Proxima Nova"/>
              <a:buChar char="●"/>
            </a:pPr>
            <a:r>
              <a:rPr b="0" lang="en-US" sz="1800" spc="-1" strike="noStrike">
                <a:solidFill>
                  <a:srgbClr val="616161"/>
                </a:solidFill>
                <a:latin typeface="Proxima Nova"/>
                <a:ea typeface="Proxima Nova"/>
              </a:rPr>
              <a:t>This approach follows the brand of a conference over time.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TextShape 1"/>
          <p:cNvSpPr txBox="1"/>
          <p:nvPr/>
        </p:nvSpPr>
        <p:spPr>
          <a:xfrm>
            <a:off x="311760" y="444960"/>
            <a:ext cx="8520120" cy="572400"/>
          </a:xfrm>
          <a:prstGeom prst="rect">
            <a:avLst/>
          </a:prstGeom>
          <a:noFill/>
          <a:ln>
            <a:noFill/>
          </a:ln>
        </p:spPr>
        <p:txBody>
          <a:bodyPr tIns="91440" bIns="91440">
            <a:normAutofit fontScale="73000"/>
          </a:bodyPr>
          <a:p>
            <a:pPr>
              <a:lnSpc>
                <a:spcPct val="100000"/>
              </a:lnSpc>
            </a:pPr>
            <a:r>
              <a:rPr b="0" lang="en-US" sz="2800" spc="-1" strike="noStrike">
                <a:solidFill>
                  <a:srgbClr val="202729"/>
                </a:solidFill>
                <a:latin typeface="Proxima Nova"/>
                <a:ea typeface="Proxima Nova"/>
              </a:rPr>
              <a:t>Interesting Findings</a:t>
            </a:r>
            <a:endParaRPr b="0" lang="en-US" sz="2800" spc="-1" strike="noStrike">
              <a:solidFill>
                <a:srgbClr val="000000"/>
              </a:solidFill>
              <a:latin typeface="Arial"/>
            </a:endParaRPr>
          </a:p>
        </p:txBody>
      </p:sp>
      <p:sp>
        <p:nvSpPr>
          <p:cNvPr id="90" name="TextShape 2"/>
          <p:cNvSpPr txBox="1"/>
          <p:nvPr/>
        </p:nvSpPr>
        <p:spPr>
          <a:xfrm>
            <a:off x="311760" y="1152360"/>
            <a:ext cx="8520120" cy="3416040"/>
          </a:xfrm>
          <a:prstGeom prst="rect">
            <a:avLst/>
          </a:prstGeom>
          <a:noFill/>
          <a:ln>
            <a:noFill/>
          </a:ln>
        </p:spPr>
        <p:txBody>
          <a:bodyPr tIns="91440" bIns="91440">
            <a:normAutofit fontScale="55000"/>
          </a:bodyPr>
          <a:p>
            <a:pPr marL="457200" indent="-325440">
              <a:lnSpc>
                <a:spcPct val="115000"/>
              </a:lnSpc>
              <a:buClr>
                <a:srgbClr val="616161"/>
              </a:buClr>
              <a:buFont typeface="Proxima Nova"/>
              <a:buAutoNum type="arabicPeriod"/>
            </a:pPr>
            <a:r>
              <a:rPr b="0" lang="en-US" sz="1800" spc="-1" strike="noStrike">
                <a:solidFill>
                  <a:srgbClr val="616161"/>
                </a:solidFill>
                <a:latin typeface="Proxima Nova"/>
                <a:ea typeface="Proxima Nova"/>
              </a:rPr>
              <a:t>Under these metrics, there is weight to the argument that the SEC is the best conference in college football. </a:t>
            </a:r>
            <a:endParaRPr b="0" lang="en-US" sz="1800" spc="-1" strike="noStrike">
              <a:solidFill>
                <a:srgbClr val="000000"/>
              </a:solidFill>
              <a:latin typeface="Arial"/>
            </a:endParaRPr>
          </a:p>
          <a:p>
            <a:pPr lvl="1" marL="914400" indent="-303840">
              <a:lnSpc>
                <a:spcPct val="115000"/>
              </a:lnSpc>
              <a:buClr>
                <a:srgbClr val="616161"/>
              </a:buClr>
              <a:buFont typeface="Proxima Nova"/>
              <a:buAutoNum type="alphaLcPeriod"/>
            </a:pPr>
            <a:r>
              <a:rPr b="0" lang="en-US" sz="1400" spc="-1" strike="noStrike">
                <a:solidFill>
                  <a:srgbClr val="616161"/>
                </a:solidFill>
                <a:latin typeface="Proxima Nova"/>
                <a:ea typeface="Proxima Nova"/>
              </a:rPr>
              <a:t>Their non-conference win percentage was the highest in average and median over their existence. The variance of the win percentage was small as well.</a:t>
            </a:r>
            <a:endParaRPr b="0" lang="en-US" sz="1400" spc="-1" strike="noStrike">
              <a:solidFill>
                <a:srgbClr val="000000"/>
              </a:solidFill>
              <a:latin typeface="Arial"/>
            </a:endParaRPr>
          </a:p>
          <a:p>
            <a:pPr marL="457200" indent="-325440">
              <a:lnSpc>
                <a:spcPct val="115000"/>
              </a:lnSpc>
              <a:buClr>
                <a:srgbClr val="616161"/>
              </a:buClr>
              <a:buFont typeface="Proxima Nova"/>
              <a:buAutoNum type="arabicPeriod"/>
            </a:pPr>
            <a:r>
              <a:rPr b="0" lang="en-US" sz="1800" spc="-1" strike="noStrike">
                <a:solidFill>
                  <a:srgbClr val="616161"/>
                </a:solidFill>
                <a:latin typeface="Proxima Nova"/>
                <a:ea typeface="Proxima Nova"/>
              </a:rPr>
              <a:t>The American Athletic Conference has performed more like a Power 5 conference, although their success has fallen in recent years.</a:t>
            </a:r>
            <a:endParaRPr b="0" lang="en-US" sz="1800" spc="-1" strike="noStrike">
              <a:solidFill>
                <a:srgbClr val="000000"/>
              </a:solidFill>
              <a:latin typeface="Arial"/>
            </a:endParaRPr>
          </a:p>
          <a:p>
            <a:pPr marL="457200" indent="-325440">
              <a:lnSpc>
                <a:spcPct val="115000"/>
              </a:lnSpc>
              <a:buClr>
                <a:srgbClr val="616161"/>
              </a:buClr>
              <a:buFont typeface="Proxima Nova"/>
              <a:buAutoNum type="arabicPeriod"/>
            </a:pPr>
            <a:r>
              <a:rPr b="0" lang="en-US" sz="1800" spc="-1" strike="noStrike">
                <a:solidFill>
                  <a:srgbClr val="616161"/>
                </a:solidFill>
                <a:latin typeface="Proxima Nova"/>
                <a:ea typeface="Proxima Nova"/>
              </a:rPr>
              <a:t>The Sun Belt, appears to be a rising star within the Group of 5.</a:t>
            </a:r>
            <a:endParaRPr b="0" lang="en-US" sz="1800" spc="-1" strike="noStrike">
              <a:solidFill>
                <a:srgbClr val="000000"/>
              </a:solidFill>
              <a:latin typeface="Arial"/>
            </a:endParaRPr>
          </a:p>
          <a:p>
            <a:pPr marL="457200" indent="-325440">
              <a:lnSpc>
                <a:spcPct val="115000"/>
              </a:lnSpc>
              <a:buClr>
                <a:srgbClr val="616161"/>
              </a:buClr>
              <a:buFont typeface="Proxima Nova"/>
              <a:buAutoNum type="arabicPeriod"/>
            </a:pPr>
            <a:r>
              <a:rPr b="0" lang="en-US" sz="1800" spc="-1" strike="noStrike">
                <a:solidFill>
                  <a:srgbClr val="616161"/>
                </a:solidFill>
                <a:latin typeface="Proxima Nova"/>
                <a:ea typeface="Proxima Nova"/>
              </a:rPr>
              <a:t>Today's Power 5 Conferences have been steadily growing in strength starting in the 1950's-70's (depending on the conference), but seem to have plateaued over the last 10 years.</a:t>
            </a:r>
            <a:endParaRPr b="0" lang="en-US" sz="1800" spc="-1" strike="noStrike">
              <a:solidFill>
                <a:srgbClr val="000000"/>
              </a:solidFill>
              <a:latin typeface="Arial"/>
            </a:endParaRPr>
          </a:p>
          <a:p>
            <a:pPr marL="457200" indent="-325440">
              <a:lnSpc>
                <a:spcPct val="115000"/>
              </a:lnSpc>
              <a:buClr>
                <a:srgbClr val="616161"/>
              </a:buClr>
              <a:buFont typeface="Proxima Nova"/>
              <a:buAutoNum type="arabicPeriod"/>
            </a:pPr>
            <a:r>
              <a:rPr b="0" lang="en-US" sz="1800" spc="-1" strike="noStrike">
                <a:solidFill>
                  <a:srgbClr val="616161"/>
                </a:solidFill>
                <a:latin typeface="Proxima Nova"/>
                <a:ea typeface="Proxima Nova"/>
              </a:rPr>
              <a:t>Today's Power 5 Conferences are playing each other proportionally more than in previous years.</a:t>
            </a:r>
            <a:endParaRPr b="0" lang="en-US" sz="1800" spc="-1" strike="noStrike">
              <a:solidFill>
                <a:srgbClr val="000000"/>
              </a:solidFill>
              <a:latin typeface="Arial"/>
            </a:endParaRPr>
          </a:p>
          <a:p>
            <a:pPr marL="457200" indent="-325440">
              <a:lnSpc>
                <a:spcPct val="115000"/>
              </a:lnSpc>
              <a:buClr>
                <a:srgbClr val="616161"/>
              </a:buClr>
              <a:buFont typeface="Proxima Nova"/>
              <a:buAutoNum type="arabicPeriod"/>
            </a:pPr>
            <a:r>
              <a:rPr b="0" lang="en-US" sz="1800" spc="-1" strike="noStrike">
                <a:solidFill>
                  <a:srgbClr val="616161"/>
                </a:solidFill>
                <a:latin typeface="Proxima Nova"/>
                <a:ea typeface="Proxima Nova"/>
              </a:rPr>
              <a:t>Independents have been holding at about a 50% win-rate for the last 100 years. This differs from the patterns from the other conferences.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TextShape 1"/>
          <p:cNvSpPr txBox="1"/>
          <p:nvPr/>
        </p:nvSpPr>
        <p:spPr>
          <a:xfrm>
            <a:off x="311760" y="444960"/>
            <a:ext cx="8520120" cy="572400"/>
          </a:xfrm>
          <a:prstGeom prst="rect">
            <a:avLst/>
          </a:prstGeom>
          <a:noFill/>
          <a:ln>
            <a:noFill/>
          </a:ln>
        </p:spPr>
        <p:txBody>
          <a:bodyPr tIns="91440" bIns="91440">
            <a:normAutofit fontScale="73000"/>
          </a:bodyPr>
          <a:p>
            <a:pPr>
              <a:lnSpc>
                <a:spcPct val="100000"/>
              </a:lnSpc>
            </a:pPr>
            <a:r>
              <a:rPr b="0" lang="en-US" sz="2800" spc="-1" strike="noStrike">
                <a:solidFill>
                  <a:srgbClr val="202729"/>
                </a:solidFill>
                <a:latin typeface="Proxima Nova"/>
                <a:ea typeface="Proxima Nova"/>
              </a:rPr>
              <a:t>Win Rates Over Last 10 Years</a:t>
            </a:r>
            <a:endParaRPr b="0" lang="en-US" sz="2800" spc="-1" strike="noStrike">
              <a:solidFill>
                <a:srgbClr val="000000"/>
              </a:solidFill>
              <a:latin typeface="Arial"/>
            </a:endParaRPr>
          </a:p>
        </p:txBody>
      </p:sp>
      <p:sp>
        <p:nvSpPr>
          <p:cNvPr id="92" name="TextShape 2"/>
          <p:cNvSpPr txBox="1"/>
          <p:nvPr/>
        </p:nvSpPr>
        <p:spPr>
          <a:xfrm>
            <a:off x="311760" y="1152360"/>
            <a:ext cx="3885120" cy="3416040"/>
          </a:xfrm>
          <a:prstGeom prst="rect">
            <a:avLst/>
          </a:prstGeom>
          <a:noFill/>
          <a:ln>
            <a:noFill/>
          </a:ln>
        </p:spPr>
        <p:txBody>
          <a:bodyPr tIns="91440" bIns="91440">
            <a:normAutofit/>
          </a:bodyPr>
          <a:p>
            <a:pPr marL="190440">
              <a:lnSpc>
                <a:spcPct val="100000"/>
              </a:lnSpc>
              <a:spcBef>
                <a:spcPts val="1100"/>
              </a:spcBef>
            </a:pPr>
            <a:r>
              <a:rPr b="1" lang="en-US" sz="1050" spc="-1" strike="noStrike">
                <a:solidFill>
                  <a:srgbClr val="000000"/>
                </a:solidFill>
                <a:latin typeface="Arial"/>
                <a:ea typeface="Arial"/>
              </a:rPr>
              <a:t>Key Takeaways</a:t>
            </a:r>
            <a:endParaRPr b="0" lang="en-US" sz="1050" spc="-1" strike="noStrike">
              <a:solidFill>
                <a:srgbClr val="000000"/>
              </a:solidFill>
              <a:latin typeface="Arial"/>
            </a:endParaRPr>
          </a:p>
          <a:p>
            <a:pPr marL="457200" indent="-294840">
              <a:lnSpc>
                <a:spcPct val="115000"/>
              </a:lnSpc>
              <a:spcBef>
                <a:spcPts val="1100"/>
              </a:spcBef>
              <a:buClr>
                <a:srgbClr val="000000"/>
              </a:buClr>
              <a:buFont typeface="Arial"/>
              <a:buAutoNum type="arabicPeriod"/>
            </a:pPr>
            <a:r>
              <a:rPr b="0" lang="en-US" sz="1050" spc="-1" strike="noStrike">
                <a:solidFill>
                  <a:srgbClr val="000000"/>
                </a:solidFill>
                <a:latin typeface="Arial"/>
                <a:ea typeface="Arial"/>
              </a:rPr>
              <a:t>Not surprisingly, there appears to be a strong positive correlation between winning against Power 5 opponents and winning against Group of 5 opponents.</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SEC seems to be the best followed closely by the Big Ten.</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The ACC is the worst of the Power 5.</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There may be 3 clusters of Conferences instead of just Power 5 and Group of 5.</a:t>
            </a:r>
            <a:endParaRPr b="0" lang="en-US" sz="1050" spc="-1" strike="noStrike">
              <a:solidFill>
                <a:srgbClr val="000000"/>
              </a:solidFill>
              <a:latin typeface="Arial"/>
            </a:endParaRPr>
          </a:p>
        </p:txBody>
      </p:sp>
      <p:pic>
        <p:nvPicPr>
          <p:cNvPr id="93" name="Google Shape;92;p18" descr=""/>
          <p:cNvPicPr/>
          <p:nvPr/>
        </p:nvPicPr>
        <p:blipFill>
          <a:blip r:embed="rId1"/>
          <a:stretch/>
        </p:blipFill>
        <p:spPr>
          <a:xfrm>
            <a:off x="4197240" y="901800"/>
            <a:ext cx="4899960" cy="4099320"/>
          </a:xfrm>
          <a:prstGeom prst="rect">
            <a:avLst/>
          </a:prstGeom>
          <a:ln>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TextShape 1"/>
          <p:cNvSpPr txBox="1"/>
          <p:nvPr/>
        </p:nvSpPr>
        <p:spPr>
          <a:xfrm>
            <a:off x="311760" y="444960"/>
            <a:ext cx="8520120" cy="572400"/>
          </a:xfrm>
          <a:prstGeom prst="rect">
            <a:avLst/>
          </a:prstGeom>
          <a:noFill/>
          <a:ln>
            <a:noFill/>
          </a:ln>
        </p:spPr>
        <p:txBody>
          <a:bodyPr tIns="91440" bIns="91440">
            <a:normAutofit fontScale="73000"/>
          </a:bodyPr>
          <a:p>
            <a:pPr>
              <a:lnSpc>
                <a:spcPct val="100000"/>
              </a:lnSpc>
            </a:pPr>
            <a:r>
              <a:rPr b="0" lang="en-US" sz="2800" spc="-1" strike="noStrike">
                <a:solidFill>
                  <a:srgbClr val="202729"/>
                </a:solidFill>
                <a:latin typeface="Proxima Nova"/>
                <a:ea typeface="Proxima Nova"/>
              </a:rPr>
              <a:t>Non-Conference Win-Rate with a Best-Fit Curve</a:t>
            </a:r>
            <a:endParaRPr b="0" lang="en-US" sz="2800" spc="-1" strike="noStrike">
              <a:solidFill>
                <a:srgbClr val="000000"/>
              </a:solidFill>
              <a:latin typeface="Arial"/>
            </a:endParaRPr>
          </a:p>
        </p:txBody>
      </p:sp>
      <p:sp>
        <p:nvSpPr>
          <p:cNvPr id="95" name="TextShape 2"/>
          <p:cNvSpPr txBox="1"/>
          <p:nvPr/>
        </p:nvSpPr>
        <p:spPr>
          <a:xfrm>
            <a:off x="311760" y="1152360"/>
            <a:ext cx="3943800" cy="3416040"/>
          </a:xfrm>
          <a:prstGeom prst="rect">
            <a:avLst/>
          </a:prstGeom>
          <a:noFill/>
          <a:ln>
            <a:noFill/>
          </a:ln>
        </p:spPr>
        <p:txBody>
          <a:bodyPr tIns="91440" bIns="91440">
            <a:normAutofit/>
          </a:bodyPr>
          <a:p>
            <a:pPr marL="190440">
              <a:lnSpc>
                <a:spcPct val="100000"/>
              </a:lnSpc>
              <a:spcBef>
                <a:spcPts val="1100"/>
              </a:spcBef>
            </a:pPr>
            <a:r>
              <a:rPr b="1" lang="en-US" sz="1050" spc="-1" strike="noStrike">
                <a:solidFill>
                  <a:srgbClr val="000000"/>
                </a:solidFill>
                <a:latin typeface="Arial"/>
                <a:ea typeface="Arial"/>
              </a:rPr>
              <a:t>Key Takeaways</a:t>
            </a:r>
            <a:endParaRPr b="0" lang="en-US" sz="1050" spc="-1" strike="noStrike">
              <a:solidFill>
                <a:srgbClr val="000000"/>
              </a:solidFill>
              <a:latin typeface="Arial"/>
            </a:endParaRPr>
          </a:p>
          <a:p>
            <a:pPr marL="457200" indent="-294840">
              <a:lnSpc>
                <a:spcPct val="115000"/>
              </a:lnSpc>
              <a:spcBef>
                <a:spcPts val="1100"/>
              </a:spcBef>
              <a:buClr>
                <a:srgbClr val="000000"/>
              </a:buClr>
              <a:buFont typeface="Arial"/>
              <a:buAutoNum type="arabicPeriod"/>
            </a:pPr>
            <a:r>
              <a:rPr b="0" lang="en-US" sz="1050" spc="-1" strike="noStrike">
                <a:solidFill>
                  <a:srgbClr val="000000"/>
                </a:solidFill>
                <a:latin typeface="Arial"/>
                <a:ea typeface="Arial"/>
              </a:rPr>
              <a:t>Since 1980, the Big 10 has been increasing in strength, but has somewhat plateaued over the last 30 years.</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Over the last 30 years, Big Ten has had a non-conference win percentage averaging around 70% despite the trend-line suggesting a dip in the last 10 years</a:t>
            </a:r>
            <a:endParaRPr b="0" lang="en-US" sz="1050" spc="-1" strike="noStrike">
              <a:solidFill>
                <a:srgbClr val="000000"/>
              </a:solidFill>
              <a:latin typeface="Arial"/>
            </a:endParaRPr>
          </a:p>
          <a:p>
            <a:pPr>
              <a:lnSpc>
                <a:spcPct val="115000"/>
              </a:lnSpc>
              <a:spcBef>
                <a:spcPts val="700"/>
              </a:spcBef>
              <a:spcAft>
                <a:spcPts val="1199"/>
              </a:spcAft>
            </a:pPr>
            <a:endParaRPr b="0" lang="en-US" sz="1050" spc="-1" strike="noStrike">
              <a:solidFill>
                <a:srgbClr val="000000"/>
              </a:solidFill>
              <a:latin typeface="Arial"/>
            </a:endParaRPr>
          </a:p>
        </p:txBody>
      </p:sp>
      <p:pic>
        <p:nvPicPr>
          <p:cNvPr id="96" name="Google Shape;99;p19" descr=""/>
          <p:cNvPicPr/>
          <p:nvPr/>
        </p:nvPicPr>
        <p:blipFill>
          <a:blip r:embed="rId1"/>
          <a:stretch/>
        </p:blipFill>
        <p:spPr>
          <a:xfrm>
            <a:off x="4255920" y="1017720"/>
            <a:ext cx="4709520" cy="3903840"/>
          </a:xfrm>
          <a:prstGeom prst="rect">
            <a:avLst/>
          </a:prstGeom>
          <a:ln>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TextShape 1"/>
          <p:cNvSpPr txBox="1"/>
          <p:nvPr/>
        </p:nvSpPr>
        <p:spPr>
          <a:xfrm>
            <a:off x="311760" y="444960"/>
            <a:ext cx="8520120" cy="572400"/>
          </a:xfrm>
          <a:prstGeom prst="rect">
            <a:avLst/>
          </a:prstGeom>
          <a:noFill/>
          <a:ln>
            <a:noFill/>
          </a:ln>
        </p:spPr>
        <p:txBody>
          <a:bodyPr tIns="91440" bIns="91440">
            <a:normAutofit fontScale="73000"/>
          </a:bodyPr>
          <a:p>
            <a:pPr>
              <a:lnSpc>
                <a:spcPct val="100000"/>
              </a:lnSpc>
            </a:pPr>
            <a:r>
              <a:rPr b="0" lang="en-US" sz="2800" spc="-1" strike="noStrike">
                <a:solidFill>
                  <a:srgbClr val="202729"/>
                </a:solidFill>
                <a:latin typeface="Proxima Nova"/>
                <a:ea typeface="Proxima Nova"/>
              </a:rPr>
              <a:t>Power 5 Win-Rate (Best-Fit Curve)</a:t>
            </a:r>
            <a:endParaRPr b="0" lang="en-US" sz="2800" spc="-1" strike="noStrike">
              <a:solidFill>
                <a:srgbClr val="000000"/>
              </a:solidFill>
              <a:latin typeface="Arial"/>
            </a:endParaRPr>
          </a:p>
        </p:txBody>
      </p:sp>
      <p:sp>
        <p:nvSpPr>
          <p:cNvPr id="98" name="TextShape 2"/>
          <p:cNvSpPr txBox="1"/>
          <p:nvPr/>
        </p:nvSpPr>
        <p:spPr>
          <a:xfrm>
            <a:off x="311760" y="1152360"/>
            <a:ext cx="2652120" cy="3416040"/>
          </a:xfrm>
          <a:prstGeom prst="rect">
            <a:avLst/>
          </a:prstGeom>
          <a:noFill/>
          <a:ln>
            <a:noFill/>
          </a:ln>
        </p:spPr>
        <p:txBody>
          <a:bodyPr tIns="91440" bIns="91440">
            <a:normAutofit/>
          </a:bodyPr>
          <a:p>
            <a:pPr marL="190440">
              <a:lnSpc>
                <a:spcPct val="100000"/>
              </a:lnSpc>
              <a:spcBef>
                <a:spcPts val="1100"/>
              </a:spcBef>
            </a:pPr>
            <a:r>
              <a:rPr b="1" lang="en-US" sz="1050" spc="-1" strike="noStrike">
                <a:solidFill>
                  <a:srgbClr val="000000"/>
                </a:solidFill>
                <a:latin typeface="Arial"/>
                <a:ea typeface="Arial"/>
              </a:rPr>
              <a:t>Key Takeaways</a:t>
            </a:r>
            <a:endParaRPr b="0" lang="en-US" sz="1050" spc="-1" strike="noStrike">
              <a:solidFill>
                <a:srgbClr val="000000"/>
              </a:solidFill>
              <a:latin typeface="Arial"/>
            </a:endParaRPr>
          </a:p>
          <a:p>
            <a:pPr marL="457200" indent="-294840">
              <a:lnSpc>
                <a:spcPct val="115000"/>
              </a:lnSpc>
              <a:spcBef>
                <a:spcPts val="1100"/>
              </a:spcBef>
              <a:buClr>
                <a:srgbClr val="000000"/>
              </a:buClr>
              <a:buFont typeface="Arial"/>
              <a:buAutoNum type="arabicPeriod"/>
            </a:pPr>
            <a:r>
              <a:rPr b="0" lang="en-US" sz="1050" spc="-1" strike="noStrike">
                <a:solidFill>
                  <a:srgbClr val="000000"/>
                </a:solidFill>
                <a:latin typeface="Arial"/>
                <a:ea typeface="Arial"/>
              </a:rPr>
              <a:t>Power 5 Conferences tend to win more non-conference games than lose.</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SEC has consistently been the best conference</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ACC has been the worst conference</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Power 5 Conferences have been trending stronger over time.</a:t>
            </a:r>
            <a:endParaRPr b="0" lang="en-US" sz="1050" spc="-1" strike="noStrike">
              <a:solidFill>
                <a:srgbClr val="000000"/>
              </a:solidFill>
              <a:latin typeface="Arial"/>
            </a:endParaRPr>
          </a:p>
          <a:p>
            <a:pPr>
              <a:lnSpc>
                <a:spcPct val="115000"/>
              </a:lnSpc>
              <a:spcBef>
                <a:spcPts val="700"/>
              </a:spcBef>
              <a:spcAft>
                <a:spcPts val="1199"/>
              </a:spcAft>
            </a:pPr>
            <a:endParaRPr b="0" lang="en-US" sz="1050" spc="-1" strike="noStrike">
              <a:solidFill>
                <a:srgbClr val="000000"/>
              </a:solidFill>
              <a:latin typeface="Arial"/>
            </a:endParaRPr>
          </a:p>
        </p:txBody>
      </p:sp>
      <p:pic>
        <p:nvPicPr>
          <p:cNvPr id="99" name="Google Shape;106;p20" descr=""/>
          <p:cNvPicPr/>
          <p:nvPr/>
        </p:nvPicPr>
        <p:blipFill>
          <a:blip r:embed="rId1"/>
          <a:stretch/>
        </p:blipFill>
        <p:spPr>
          <a:xfrm>
            <a:off x="2964240" y="1017720"/>
            <a:ext cx="6013440" cy="3711240"/>
          </a:xfrm>
          <a:prstGeom prst="rect">
            <a:avLst/>
          </a:prstGeom>
          <a:ln>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TextShape 1"/>
          <p:cNvSpPr txBox="1"/>
          <p:nvPr/>
        </p:nvSpPr>
        <p:spPr>
          <a:xfrm>
            <a:off x="311760" y="444960"/>
            <a:ext cx="8520120" cy="572400"/>
          </a:xfrm>
          <a:prstGeom prst="rect">
            <a:avLst/>
          </a:prstGeom>
          <a:noFill/>
          <a:ln>
            <a:noFill/>
          </a:ln>
        </p:spPr>
        <p:txBody>
          <a:bodyPr tIns="91440" bIns="91440">
            <a:normAutofit fontScale="25000"/>
          </a:bodyPr>
          <a:p>
            <a:pPr>
              <a:lnSpc>
                <a:spcPct val="100000"/>
              </a:lnSpc>
            </a:pPr>
            <a:r>
              <a:rPr b="0" lang="en-US" sz="2800" spc="-1" strike="noStrike">
                <a:solidFill>
                  <a:srgbClr val="202729"/>
                </a:solidFill>
                <a:latin typeface="Proxima Nova"/>
                <a:ea typeface="Proxima Nova"/>
              </a:rPr>
              <a:t>Group of 5 Win-Rate (Best-Fit Curve)</a:t>
            </a:r>
            <a:br/>
            <a:endParaRPr b="0" lang="en-US" sz="2800" spc="-1" strike="noStrike">
              <a:solidFill>
                <a:srgbClr val="000000"/>
              </a:solidFill>
              <a:latin typeface="Arial"/>
            </a:endParaRPr>
          </a:p>
        </p:txBody>
      </p:sp>
      <p:sp>
        <p:nvSpPr>
          <p:cNvPr id="101" name="TextShape 2"/>
          <p:cNvSpPr txBox="1"/>
          <p:nvPr/>
        </p:nvSpPr>
        <p:spPr>
          <a:xfrm>
            <a:off x="311760" y="1152360"/>
            <a:ext cx="2592720" cy="3416040"/>
          </a:xfrm>
          <a:prstGeom prst="rect">
            <a:avLst/>
          </a:prstGeom>
          <a:noFill/>
          <a:ln>
            <a:noFill/>
          </a:ln>
        </p:spPr>
        <p:txBody>
          <a:bodyPr tIns="91440" bIns="91440">
            <a:normAutofit/>
          </a:bodyPr>
          <a:p>
            <a:pPr marL="190440">
              <a:lnSpc>
                <a:spcPct val="100000"/>
              </a:lnSpc>
              <a:spcBef>
                <a:spcPts val="1100"/>
              </a:spcBef>
            </a:pPr>
            <a:r>
              <a:rPr b="1" lang="en-US" sz="1050" spc="-1" strike="noStrike">
                <a:solidFill>
                  <a:srgbClr val="000000"/>
                </a:solidFill>
                <a:latin typeface="Arial"/>
                <a:ea typeface="Arial"/>
              </a:rPr>
              <a:t>Key Takeaways</a:t>
            </a:r>
            <a:endParaRPr b="0" lang="en-US" sz="1050" spc="-1" strike="noStrike">
              <a:solidFill>
                <a:srgbClr val="000000"/>
              </a:solidFill>
              <a:latin typeface="Arial"/>
            </a:endParaRPr>
          </a:p>
          <a:p>
            <a:pPr marL="457200" indent="-294840">
              <a:lnSpc>
                <a:spcPct val="115000"/>
              </a:lnSpc>
              <a:spcBef>
                <a:spcPts val="1100"/>
              </a:spcBef>
              <a:buClr>
                <a:srgbClr val="000000"/>
              </a:buClr>
              <a:buFont typeface="Arial"/>
              <a:buAutoNum type="arabicPeriod"/>
            </a:pPr>
            <a:r>
              <a:rPr b="0" lang="en-US" sz="1050" spc="-1" strike="noStrike">
                <a:solidFill>
                  <a:srgbClr val="000000"/>
                </a:solidFill>
                <a:latin typeface="Arial"/>
                <a:ea typeface="Arial"/>
              </a:rPr>
              <a:t>The Group of 5 tends to lose more non-conference games than win.</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Most conferences are relatively new</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All but the Sun Belt have been generally declining in performance.</a:t>
            </a:r>
            <a:endParaRPr b="0" lang="en-US" sz="1050" spc="-1" strike="noStrike">
              <a:solidFill>
                <a:srgbClr val="000000"/>
              </a:solidFill>
              <a:latin typeface="Arial"/>
            </a:endParaRPr>
          </a:p>
          <a:p>
            <a:pPr>
              <a:lnSpc>
                <a:spcPct val="115000"/>
              </a:lnSpc>
              <a:spcBef>
                <a:spcPts val="700"/>
              </a:spcBef>
              <a:spcAft>
                <a:spcPts val="1199"/>
              </a:spcAft>
            </a:pPr>
            <a:endParaRPr b="0" lang="en-US" sz="1050" spc="-1" strike="noStrike">
              <a:solidFill>
                <a:srgbClr val="000000"/>
              </a:solidFill>
              <a:latin typeface="Arial"/>
            </a:endParaRPr>
          </a:p>
        </p:txBody>
      </p:sp>
      <p:pic>
        <p:nvPicPr>
          <p:cNvPr id="102" name="Google Shape;113;p21" descr=""/>
          <p:cNvPicPr/>
          <p:nvPr/>
        </p:nvPicPr>
        <p:blipFill>
          <a:blip r:embed="rId1"/>
          <a:stretch/>
        </p:blipFill>
        <p:spPr>
          <a:xfrm>
            <a:off x="2904480" y="1025280"/>
            <a:ext cx="6239160" cy="3670200"/>
          </a:xfrm>
          <a:prstGeom prst="rect">
            <a:avLst/>
          </a:prstGeom>
          <a:ln>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TextShape 1"/>
          <p:cNvSpPr txBox="1"/>
          <p:nvPr/>
        </p:nvSpPr>
        <p:spPr>
          <a:xfrm>
            <a:off x="311760" y="444960"/>
            <a:ext cx="8520120" cy="572400"/>
          </a:xfrm>
          <a:prstGeom prst="rect">
            <a:avLst/>
          </a:prstGeom>
          <a:noFill/>
          <a:ln>
            <a:noFill/>
          </a:ln>
        </p:spPr>
        <p:txBody>
          <a:bodyPr tIns="91440" bIns="91440">
            <a:normAutofit fontScale="73000"/>
          </a:bodyPr>
          <a:p>
            <a:pPr>
              <a:lnSpc>
                <a:spcPct val="100000"/>
              </a:lnSpc>
            </a:pPr>
            <a:r>
              <a:rPr b="0" lang="en-US" sz="2800" spc="-1" strike="noStrike">
                <a:solidFill>
                  <a:srgbClr val="202729"/>
                </a:solidFill>
                <a:latin typeface="Proxima Nova"/>
                <a:ea typeface="Proxima Nova"/>
              </a:rPr>
              <a:t>Non-Conference Win-Rate Best-Fit Curve</a:t>
            </a:r>
            <a:endParaRPr b="0" lang="en-US" sz="2800" spc="-1" strike="noStrike">
              <a:solidFill>
                <a:srgbClr val="000000"/>
              </a:solidFill>
              <a:latin typeface="Arial"/>
            </a:endParaRPr>
          </a:p>
        </p:txBody>
      </p:sp>
      <p:sp>
        <p:nvSpPr>
          <p:cNvPr id="104" name="TextShape 2"/>
          <p:cNvSpPr txBox="1"/>
          <p:nvPr/>
        </p:nvSpPr>
        <p:spPr>
          <a:xfrm>
            <a:off x="311760" y="1152360"/>
            <a:ext cx="3356640" cy="3416040"/>
          </a:xfrm>
          <a:prstGeom prst="rect">
            <a:avLst/>
          </a:prstGeom>
          <a:noFill/>
          <a:ln>
            <a:noFill/>
          </a:ln>
        </p:spPr>
        <p:txBody>
          <a:bodyPr tIns="91440" bIns="91440">
            <a:normAutofit/>
          </a:bodyPr>
          <a:p>
            <a:pPr marL="190440">
              <a:lnSpc>
                <a:spcPct val="100000"/>
              </a:lnSpc>
              <a:spcBef>
                <a:spcPts val="1100"/>
              </a:spcBef>
            </a:pPr>
            <a:r>
              <a:rPr b="1" lang="en-US" sz="1050" spc="-1" strike="noStrike">
                <a:solidFill>
                  <a:srgbClr val="000000"/>
                </a:solidFill>
                <a:latin typeface="Arial"/>
                <a:ea typeface="Arial"/>
              </a:rPr>
              <a:t>Key Takeaway</a:t>
            </a:r>
            <a:endParaRPr b="0" lang="en-US" sz="1050" spc="-1" strike="noStrike">
              <a:solidFill>
                <a:srgbClr val="000000"/>
              </a:solidFill>
              <a:latin typeface="Arial"/>
            </a:endParaRPr>
          </a:p>
          <a:p>
            <a:pPr marL="457200" indent="-294840">
              <a:lnSpc>
                <a:spcPct val="115000"/>
              </a:lnSpc>
              <a:spcBef>
                <a:spcPts val="1100"/>
              </a:spcBef>
              <a:buClr>
                <a:srgbClr val="000000"/>
              </a:buClr>
              <a:buFont typeface="Arial"/>
              <a:buAutoNum type="arabicPeriod"/>
            </a:pPr>
            <a:r>
              <a:rPr b="0" lang="en-US" sz="1050" spc="-1" strike="noStrike">
                <a:solidFill>
                  <a:srgbClr val="000000"/>
                </a:solidFill>
                <a:latin typeface="Arial"/>
                <a:ea typeface="Arial"/>
              </a:rPr>
              <a:t>Independents have generally won as many non-conference games they have lost over their whole history</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Unlike other conference, they have not seen great changes in their non-conference win percentage.</a:t>
            </a:r>
            <a:endParaRPr b="0" lang="en-US" sz="1050" spc="-1" strike="noStrike">
              <a:solidFill>
                <a:srgbClr val="000000"/>
              </a:solidFill>
              <a:latin typeface="Arial"/>
            </a:endParaRPr>
          </a:p>
          <a:p>
            <a:pPr>
              <a:lnSpc>
                <a:spcPct val="115000"/>
              </a:lnSpc>
              <a:spcBef>
                <a:spcPts val="700"/>
              </a:spcBef>
              <a:spcAft>
                <a:spcPts val="1199"/>
              </a:spcAft>
            </a:pPr>
            <a:endParaRPr b="0" lang="en-US" sz="1050" spc="-1" strike="noStrike">
              <a:solidFill>
                <a:srgbClr val="000000"/>
              </a:solidFill>
              <a:latin typeface="Arial"/>
            </a:endParaRPr>
          </a:p>
        </p:txBody>
      </p:sp>
      <p:pic>
        <p:nvPicPr>
          <p:cNvPr id="105" name="Google Shape;120;p22" descr=""/>
          <p:cNvPicPr/>
          <p:nvPr/>
        </p:nvPicPr>
        <p:blipFill>
          <a:blip r:embed="rId1"/>
          <a:stretch/>
        </p:blipFill>
        <p:spPr>
          <a:xfrm>
            <a:off x="3668760" y="1017720"/>
            <a:ext cx="5380560" cy="3943800"/>
          </a:xfrm>
          <a:prstGeom prst="rect">
            <a:avLst/>
          </a:prstGeom>
          <a:ln>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TextShape 1"/>
          <p:cNvSpPr txBox="1"/>
          <p:nvPr/>
        </p:nvSpPr>
        <p:spPr>
          <a:xfrm>
            <a:off x="311760" y="444960"/>
            <a:ext cx="8520120" cy="572400"/>
          </a:xfrm>
          <a:prstGeom prst="rect">
            <a:avLst/>
          </a:prstGeom>
          <a:noFill/>
          <a:ln>
            <a:noFill/>
          </a:ln>
        </p:spPr>
        <p:txBody>
          <a:bodyPr tIns="91440" bIns="91440">
            <a:normAutofit fontScale="73000"/>
          </a:bodyPr>
          <a:p>
            <a:pPr>
              <a:lnSpc>
                <a:spcPct val="100000"/>
              </a:lnSpc>
            </a:pPr>
            <a:r>
              <a:rPr b="0" lang="en-US" sz="2800" spc="-1" strike="noStrike">
                <a:solidFill>
                  <a:srgbClr val="202729"/>
                </a:solidFill>
                <a:latin typeface="Proxima Nova"/>
                <a:ea typeface="Proxima Nova"/>
              </a:rPr>
              <a:t>Non-Conference Schedule and Win Rate of SEC</a:t>
            </a:r>
            <a:endParaRPr b="0" lang="en-US" sz="2800" spc="-1" strike="noStrike">
              <a:solidFill>
                <a:srgbClr val="000000"/>
              </a:solidFill>
              <a:latin typeface="Arial"/>
            </a:endParaRPr>
          </a:p>
        </p:txBody>
      </p:sp>
      <p:sp>
        <p:nvSpPr>
          <p:cNvPr id="107" name="TextShape 2"/>
          <p:cNvSpPr txBox="1"/>
          <p:nvPr/>
        </p:nvSpPr>
        <p:spPr>
          <a:xfrm>
            <a:off x="311760" y="1152360"/>
            <a:ext cx="2869560" cy="3416040"/>
          </a:xfrm>
          <a:prstGeom prst="rect">
            <a:avLst/>
          </a:prstGeom>
          <a:noFill/>
          <a:ln>
            <a:noFill/>
          </a:ln>
        </p:spPr>
        <p:txBody>
          <a:bodyPr tIns="91440" bIns="91440">
            <a:normAutofit/>
          </a:bodyPr>
          <a:p>
            <a:pPr marL="190440">
              <a:lnSpc>
                <a:spcPct val="100000"/>
              </a:lnSpc>
              <a:spcBef>
                <a:spcPts val="1100"/>
              </a:spcBef>
            </a:pPr>
            <a:r>
              <a:rPr b="1" lang="en-US" sz="1050" spc="-1" strike="noStrike">
                <a:solidFill>
                  <a:srgbClr val="000000"/>
                </a:solidFill>
                <a:latin typeface="Arial"/>
                <a:ea typeface="Arial"/>
              </a:rPr>
              <a:t>Key Takeaways:</a:t>
            </a:r>
            <a:endParaRPr b="0" lang="en-US" sz="1050" spc="-1" strike="noStrike">
              <a:solidFill>
                <a:srgbClr val="000000"/>
              </a:solidFill>
              <a:latin typeface="Arial"/>
            </a:endParaRPr>
          </a:p>
          <a:p>
            <a:pPr marL="457200" indent="-294840">
              <a:lnSpc>
                <a:spcPct val="115000"/>
              </a:lnSpc>
              <a:spcBef>
                <a:spcPts val="1100"/>
              </a:spcBef>
              <a:buClr>
                <a:srgbClr val="000000"/>
              </a:buClr>
              <a:buFont typeface="Arial"/>
              <a:buAutoNum type="arabicPeriod"/>
            </a:pPr>
            <a:r>
              <a:rPr b="0" lang="en-US" sz="1050" spc="-1" strike="noStrike">
                <a:solidFill>
                  <a:srgbClr val="000000"/>
                </a:solidFill>
                <a:latin typeface="Arial"/>
                <a:ea typeface="Arial"/>
              </a:rPr>
              <a:t>SEC typically wins more games against Power 5 non-conference opponents than loses.</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SEC has consistently beaten Group of 5 and Defunct conference opponents.</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Since the late 1990s, SEC has started to play Power 5 increasingly more frequently.</a:t>
            </a:r>
            <a:endParaRPr b="0" lang="en-US" sz="1050" spc="-1" strike="noStrike">
              <a:solidFill>
                <a:srgbClr val="000000"/>
              </a:solidFill>
              <a:latin typeface="Arial"/>
            </a:endParaRPr>
          </a:p>
          <a:p>
            <a:pPr>
              <a:lnSpc>
                <a:spcPct val="115000"/>
              </a:lnSpc>
              <a:spcBef>
                <a:spcPts val="700"/>
              </a:spcBef>
              <a:spcAft>
                <a:spcPts val="1199"/>
              </a:spcAft>
            </a:pPr>
            <a:endParaRPr b="0" lang="en-US" sz="1050" spc="-1" strike="noStrike">
              <a:solidFill>
                <a:srgbClr val="000000"/>
              </a:solidFill>
              <a:latin typeface="Arial"/>
            </a:endParaRPr>
          </a:p>
        </p:txBody>
      </p:sp>
      <p:pic>
        <p:nvPicPr>
          <p:cNvPr id="108" name="Google Shape;127;p23" descr=""/>
          <p:cNvPicPr/>
          <p:nvPr/>
        </p:nvPicPr>
        <p:blipFill>
          <a:blip r:embed="rId1"/>
          <a:stretch/>
        </p:blipFill>
        <p:spPr>
          <a:xfrm>
            <a:off x="3181680" y="1017720"/>
            <a:ext cx="5821920" cy="3920040"/>
          </a:xfrm>
          <a:prstGeom prst="rect">
            <a:avLst/>
          </a:prstGeom>
          <a:ln>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TextShape 1"/>
          <p:cNvSpPr txBox="1"/>
          <p:nvPr/>
        </p:nvSpPr>
        <p:spPr>
          <a:xfrm>
            <a:off x="311760" y="444960"/>
            <a:ext cx="8520120" cy="572400"/>
          </a:xfrm>
          <a:prstGeom prst="rect">
            <a:avLst/>
          </a:prstGeom>
          <a:noFill/>
          <a:ln>
            <a:noFill/>
          </a:ln>
        </p:spPr>
        <p:txBody>
          <a:bodyPr tIns="91440" bIns="91440">
            <a:normAutofit fontScale="73000"/>
          </a:bodyPr>
          <a:p>
            <a:pPr>
              <a:lnSpc>
                <a:spcPct val="100000"/>
              </a:lnSpc>
            </a:pPr>
            <a:r>
              <a:rPr b="0" lang="en-US" sz="2800" spc="-1" strike="noStrike">
                <a:solidFill>
                  <a:srgbClr val="202729"/>
                </a:solidFill>
                <a:latin typeface="Proxima Nova"/>
                <a:ea typeface="Proxima Nova"/>
              </a:rPr>
              <a:t>Non-Conference Schedule and Win Rate of Sun Belt</a:t>
            </a:r>
            <a:endParaRPr b="0" lang="en-US" sz="2800" spc="-1" strike="noStrike">
              <a:solidFill>
                <a:srgbClr val="000000"/>
              </a:solidFill>
              <a:latin typeface="Arial"/>
            </a:endParaRPr>
          </a:p>
        </p:txBody>
      </p:sp>
      <p:sp>
        <p:nvSpPr>
          <p:cNvPr id="110" name="TextShape 2"/>
          <p:cNvSpPr txBox="1"/>
          <p:nvPr/>
        </p:nvSpPr>
        <p:spPr>
          <a:xfrm>
            <a:off x="311760" y="1152360"/>
            <a:ext cx="2880720" cy="3416040"/>
          </a:xfrm>
          <a:prstGeom prst="rect">
            <a:avLst/>
          </a:prstGeom>
          <a:noFill/>
          <a:ln>
            <a:noFill/>
          </a:ln>
        </p:spPr>
        <p:txBody>
          <a:bodyPr tIns="91440" bIns="91440">
            <a:normAutofit/>
          </a:bodyPr>
          <a:p>
            <a:pPr marL="190440">
              <a:lnSpc>
                <a:spcPct val="100000"/>
              </a:lnSpc>
              <a:spcBef>
                <a:spcPts val="1100"/>
              </a:spcBef>
            </a:pPr>
            <a:r>
              <a:rPr b="1" lang="en-US" sz="1050" spc="-1" strike="noStrike">
                <a:solidFill>
                  <a:srgbClr val="000000"/>
                </a:solidFill>
                <a:latin typeface="Arial"/>
                <a:ea typeface="Arial"/>
              </a:rPr>
              <a:t>Key Takeaways:</a:t>
            </a:r>
            <a:endParaRPr b="0" lang="en-US" sz="1050" spc="-1" strike="noStrike">
              <a:solidFill>
                <a:srgbClr val="000000"/>
              </a:solidFill>
              <a:latin typeface="Arial"/>
            </a:endParaRPr>
          </a:p>
          <a:p>
            <a:pPr marL="457200" indent="-294840">
              <a:lnSpc>
                <a:spcPct val="115000"/>
              </a:lnSpc>
              <a:spcBef>
                <a:spcPts val="1100"/>
              </a:spcBef>
              <a:buClr>
                <a:srgbClr val="000000"/>
              </a:buClr>
              <a:buFont typeface="Arial"/>
              <a:buAutoNum type="arabicPeriod"/>
            </a:pPr>
            <a:r>
              <a:rPr b="0" lang="en-US" sz="1050" spc="-1" strike="noStrike">
                <a:solidFill>
                  <a:srgbClr val="000000"/>
                </a:solidFill>
                <a:latin typeface="Arial"/>
                <a:ea typeface="Arial"/>
              </a:rPr>
              <a:t>Sun Belt has not done well against Power 5. They are playing them less but seem to be winning a few more.</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Sun Belt is a rising star within the Group of 5 by playing them more and winning more.</a:t>
            </a:r>
            <a:endParaRPr b="0" lang="en-US" sz="1050" spc="-1" strike="noStrike">
              <a:solidFill>
                <a:srgbClr val="000000"/>
              </a:solidFill>
              <a:latin typeface="Arial"/>
            </a:endParaRPr>
          </a:p>
          <a:p>
            <a:pPr>
              <a:lnSpc>
                <a:spcPct val="115000"/>
              </a:lnSpc>
              <a:spcBef>
                <a:spcPts val="700"/>
              </a:spcBef>
              <a:spcAft>
                <a:spcPts val="1199"/>
              </a:spcAft>
            </a:pPr>
            <a:endParaRPr b="0" lang="en-US" sz="1050" spc="-1" strike="noStrike">
              <a:solidFill>
                <a:srgbClr val="000000"/>
              </a:solidFill>
              <a:latin typeface="Arial"/>
            </a:endParaRPr>
          </a:p>
        </p:txBody>
      </p:sp>
      <p:pic>
        <p:nvPicPr>
          <p:cNvPr id="111" name="Google Shape;134;p24" descr=""/>
          <p:cNvPicPr/>
          <p:nvPr/>
        </p:nvPicPr>
        <p:blipFill>
          <a:blip r:embed="rId1"/>
          <a:stretch/>
        </p:blipFill>
        <p:spPr>
          <a:xfrm>
            <a:off x="3192840" y="1017720"/>
            <a:ext cx="5866560" cy="3949920"/>
          </a:xfrm>
          <a:prstGeom prst="rect">
            <a:avLst/>
          </a:prstGeom>
          <a:ln>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TextShape 1"/>
          <p:cNvSpPr txBox="1"/>
          <p:nvPr/>
        </p:nvSpPr>
        <p:spPr>
          <a:xfrm>
            <a:off x="311760" y="444960"/>
            <a:ext cx="8520120" cy="572400"/>
          </a:xfrm>
          <a:prstGeom prst="rect">
            <a:avLst/>
          </a:prstGeom>
          <a:noFill/>
          <a:ln>
            <a:noFill/>
          </a:ln>
        </p:spPr>
        <p:txBody>
          <a:bodyPr tIns="91440" bIns="91440">
            <a:normAutofit fontScale="73000"/>
          </a:bodyPr>
          <a:p>
            <a:pPr>
              <a:lnSpc>
                <a:spcPct val="100000"/>
              </a:lnSpc>
            </a:pPr>
            <a:r>
              <a:rPr b="0" lang="en-US" sz="2800" spc="-1" strike="noStrike">
                <a:solidFill>
                  <a:srgbClr val="202729"/>
                </a:solidFill>
                <a:latin typeface="Proxima Nova"/>
                <a:ea typeface="Proxima Nova"/>
              </a:rPr>
              <a:t>Non-Conference Schedule and Win Rate of AAC</a:t>
            </a:r>
            <a:endParaRPr b="0" lang="en-US" sz="2800" spc="-1" strike="noStrike">
              <a:solidFill>
                <a:srgbClr val="000000"/>
              </a:solidFill>
              <a:latin typeface="Arial"/>
            </a:endParaRPr>
          </a:p>
        </p:txBody>
      </p:sp>
      <p:sp>
        <p:nvSpPr>
          <p:cNvPr id="113" name="TextShape 2"/>
          <p:cNvSpPr txBox="1"/>
          <p:nvPr/>
        </p:nvSpPr>
        <p:spPr>
          <a:xfrm>
            <a:off x="311760" y="1152360"/>
            <a:ext cx="2903040" cy="3416040"/>
          </a:xfrm>
          <a:prstGeom prst="rect">
            <a:avLst/>
          </a:prstGeom>
          <a:noFill/>
          <a:ln>
            <a:noFill/>
          </a:ln>
        </p:spPr>
        <p:txBody>
          <a:bodyPr tIns="91440" bIns="91440">
            <a:normAutofit/>
          </a:bodyPr>
          <a:p>
            <a:pPr marL="190440">
              <a:lnSpc>
                <a:spcPct val="100000"/>
              </a:lnSpc>
              <a:spcBef>
                <a:spcPts val="1100"/>
              </a:spcBef>
            </a:pPr>
            <a:r>
              <a:rPr b="1" lang="en-US" sz="1050" spc="-1" strike="noStrike">
                <a:solidFill>
                  <a:srgbClr val="000000"/>
                </a:solidFill>
                <a:latin typeface="Arial"/>
                <a:ea typeface="Arial"/>
              </a:rPr>
              <a:t>Key Takeaways:</a:t>
            </a:r>
            <a:endParaRPr b="0" lang="en-US" sz="1050" spc="-1" strike="noStrike">
              <a:solidFill>
                <a:srgbClr val="000000"/>
              </a:solidFill>
              <a:latin typeface="Arial"/>
            </a:endParaRPr>
          </a:p>
          <a:p>
            <a:pPr marL="457200" indent="-294840">
              <a:lnSpc>
                <a:spcPct val="115000"/>
              </a:lnSpc>
              <a:spcBef>
                <a:spcPts val="1100"/>
              </a:spcBef>
              <a:buClr>
                <a:srgbClr val="000000"/>
              </a:buClr>
              <a:buFont typeface="Arial"/>
              <a:buAutoNum type="arabicPeriod"/>
            </a:pPr>
            <a:r>
              <a:rPr b="0" lang="en-US" sz="1050" spc="-1" strike="noStrike">
                <a:solidFill>
                  <a:srgbClr val="000000"/>
                </a:solidFill>
                <a:latin typeface="Arial"/>
                <a:ea typeface="Arial"/>
              </a:rPr>
              <a:t>American Athletic has historically looked more like a Power 5 team by beating Group of 5 consistently and having about a 50% win rate against Power 5. However, they seem to be doing worse against both groups now.</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American Athletic has played about the same amount of Power 5 opponents as non-Power 5. Although, they may be declining over that last 10 years.</a:t>
            </a:r>
            <a:endParaRPr b="0" lang="en-US" sz="1050" spc="-1" strike="noStrike">
              <a:solidFill>
                <a:srgbClr val="000000"/>
              </a:solidFill>
              <a:latin typeface="Arial"/>
            </a:endParaRPr>
          </a:p>
        </p:txBody>
      </p:sp>
      <p:pic>
        <p:nvPicPr>
          <p:cNvPr id="114" name="Google Shape;141;p25" descr=""/>
          <p:cNvPicPr/>
          <p:nvPr/>
        </p:nvPicPr>
        <p:blipFill>
          <a:blip r:embed="rId1"/>
          <a:stretch/>
        </p:blipFill>
        <p:spPr>
          <a:xfrm>
            <a:off x="3214800" y="1017720"/>
            <a:ext cx="5833080" cy="3927240"/>
          </a:xfrm>
          <a:prstGeom prst="rect">
            <a:avLst/>
          </a:prstGeom>
          <a:ln>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TextShape 1"/>
          <p:cNvSpPr txBox="1"/>
          <p:nvPr/>
        </p:nvSpPr>
        <p:spPr>
          <a:xfrm>
            <a:off x="311760" y="444960"/>
            <a:ext cx="8520120" cy="572400"/>
          </a:xfrm>
          <a:prstGeom prst="rect">
            <a:avLst/>
          </a:prstGeom>
          <a:noFill/>
          <a:ln>
            <a:noFill/>
          </a:ln>
        </p:spPr>
        <p:txBody>
          <a:bodyPr tIns="91440" bIns="91440">
            <a:normAutofit fontScale="25000"/>
          </a:bodyPr>
          <a:p>
            <a:pPr>
              <a:lnSpc>
                <a:spcPct val="100000"/>
              </a:lnSpc>
            </a:pPr>
            <a:r>
              <a:rPr b="0" lang="en-US" sz="2800" spc="-1" strike="noStrike">
                <a:solidFill>
                  <a:srgbClr val="202729"/>
                </a:solidFill>
                <a:latin typeface="Proxima Nova"/>
                <a:ea typeface="Proxima Nova"/>
              </a:rPr>
              <a:t>Non-Conference Schedule Percentage of the Power 5</a:t>
            </a:r>
            <a:endParaRPr b="0" lang="en-US" sz="2800" spc="-1" strike="noStrike">
              <a:solidFill>
                <a:srgbClr val="000000"/>
              </a:solidFill>
              <a:latin typeface="Arial"/>
            </a:endParaRPr>
          </a:p>
        </p:txBody>
      </p:sp>
      <p:sp>
        <p:nvSpPr>
          <p:cNvPr id="116" name="TextShape 2"/>
          <p:cNvSpPr txBox="1"/>
          <p:nvPr/>
        </p:nvSpPr>
        <p:spPr>
          <a:xfrm>
            <a:off x="311760" y="1152360"/>
            <a:ext cx="3666240" cy="3416040"/>
          </a:xfrm>
          <a:prstGeom prst="rect">
            <a:avLst/>
          </a:prstGeom>
          <a:noFill/>
          <a:ln>
            <a:noFill/>
          </a:ln>
        </p:spPr>
        <p:txBody>
          <a:bodyPr tIns="91440" bIns="91440">
            <a:normAutofit/>
          </a:bodyPr>
          <a:p>
            <a:pPr marL="190440">
              <a:lnSpc>
                <a:spcPct val="100000"/>
              </a:lnSpc>
              <a:spcBef>
                <a:spcPts val="1100"/>
              </a:spcBef>
            </a:pPr>
            <a:r>
              <a:rPr b="1" lang="en-US" sz="1050" spc="-1" strike="noStrike">
                <a:solidFill>
                  <a:srgbClr val="000000"/>
                </a:solidFill>
                <a:latin typeface="Arial"/>
                <a:ea typeface="Arial"/>
              </a:rPr>
              <a:t>Key Takeaways</a:t>
            </a:r>
            <a:endParaRPr b="0" lang="en-US" sz="1050" spc="-1" strike="noStrike">
              <a:solidFill>
                <a:srgbClr val="000000"/>
              </a:solidFill>
              <a:latin typeface="Arial"/>
            </a:endParaRPr>
          </a:p>
          <a:p>
            <a:pPr marL="457200" indent="-294840">
              <a:lnSpc>
                <a:spcPct val="115000"/>
              </a:lnSpc>
              <a:spcBef>
                <a:spcPts val="1100"/>
              </a:spcBef>
              <a:buClr>
                <a:srgbClr val="000000"/>
              </a:buClr>
              <a:buFont typeface="Arial"/>
              <a:buAutoNum type="arabicPeriod"/>
            </a:pPr>
            <a:r>
              <a:rPr b="0" lang="en-US" sz="1050" spc="-1" strike="noStrike">
                <a:solidFill>
                  <a:srgbClr val="000000"/>
                </a:solidFill>
                <a:latin typeface="Arial"/>
                <a:ea typeface="Arial"/>
              </a:rPr>
              <a:t>Power 5 teams have historically played others rather themselves</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Power 5 teams are increasingly playing each other now.</a:t>
            </a:r>
            <a:endParaRPr b="0" lang="en-US" sz="1050" spc="-1" strike="noStrike">
              <a:solidFill>
                <a:srgbClr val="000000"/>
              </a:solidFill>
              <a:latin typeface="Arial"/>
            </a:endParaRPr>
          </a:p>
          <a:p>
            <a:pPr>
              <a:lnSpc>
                <a:spcPct val="115000"/>
              </a:lnSpc>
              <a:spcBef>
                <a:spcPts val="700"/>
              </a:spcBef>
              <a:spcAft>
                <a:spcPts val="1199"/>
              </a:spcAft>
            </a:pPr>
            <a:endParaRPr b="0" lang="en-US" sz="1050" spc="-1" strike="noStrike">
              <a:solidFill>
                <a:srgbClr val="000000"/>
              </a:solidFill>
              <a:latin typeface="Arial"/>
            </a:endParaRPr>
          </a:p>
        </p:txBody>
      </p:sp>
      <p:pic>
        <p:nvPicPr>
          <p:cNvPr id="117" name="Google Shape;148;p26" descr=""/>
          <p:cNvPicPr/>
          <p:nvPr/>
        </p:nvPicPr>
        <p:blipFill>
          <a:blip r:embed="rId1"/>
          <a:stretch/>
        </p:blipFill>
        <p:spPr>
          <a:xfrm>
            <a:off x="3978360" y="1152360"/>
            <a:ext cx="5052240" cy="3768840"/>
          </a:xfrm>
          <a:prstGeom prst="rect">
            <a:avLst/>
          </a:prstGeom>
          <a:ln>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TextShape 1"/>
          <p:cNvSpPr txBox="1"/>
          <p:nvPr/>
        </p:nvSpPr>
        <p:spPr>
          <a:xfrm>
            <a:off x="311760" y="444960"/>
            <a:ext cx="8520120" cy="572400"/>
          </a:xfrm>
          <a:prstGeom prst="rect">
            <a:avLst/>
          </a:prstGeom>
          <a:noFill/>
          <a:ln>
            <a:noFill/>
          </a:ln>
        </p:spPr>
        <p:txBody>
          <a:bodyPr tIns="91440" bIns="91440">
            <a:normAutofit fontScale="73000"/>
          </a:bodyPr>
          <a:p>
            <a:pPr>
              <a:lnSpc>
                <a:spcPct val="100000"/>
              </a:lnSpc>
            </a:pPr>
            <a:r>
              <a:rPr b="0" lang="en-US" sz="2800" spc="-1" strike="noStrike">
                <a:solidFill>
                  <a:srgbClr val="202729"/>
                </a:solidFill>
                <a:latin typeface="Proxima Nova"/>
                <a:ea typeface="Proxima Nova"/>
              </a:rPr>
              <a:t>Number of FBS Teams Over Time</a:t>
            </a:r>
            <a:endParaRPr b="0" lang="en-US" sz="2800" spc="-1" strike="noStrike">
              <a:solidFill>
                <a:srgbClr val="000000"/>
              </a:solidFill>
              <a:latin typeface="Arial"/>
            </a:endParaRPr>
          </a:p>
        </p:txBody>
      </p:sp>
      <p:sp>
        <p:nvSpPr>
          <p:cNvPr id="119" name="TextShape 2"/>
          <p:cNvSpPr txBox="1"/>
          <p:nvPr/>
        </p:nvSpPr>
        <p:spPr>
          <a:xfrm>
            <a:off x="311760" y="1152360"/>
            <a:ext cx="3907080" cy="3416040"/>
          </a:xfrm>
          <a:prstGeom prst="rect">
            <a:avLst/>
          </a:prstGeom>
          <a:noFill/>
          <a:ln>
            <a:noFill/>
          </a:ln>
        </p:spPr>
        <p:txBody>
          <a:bodyPr tIns="91440" bIns="91440">
            <a:normAutofit/>
          </a:bodyPr>
          <a:p>
            <a:pPr marL="190440">
              <a:lnSpc>
                <a:spcPct val="100000"/>
              </a:lnSpc>
              <a:spcBef>
                <a:spcPts val="1100"/>
              </a:spcBef>
            </a:pPr>
            <a:r>
              <a:rPr b="1" lang="en-US" sz="1050" spc="-1" strike="noStrike">
                <a:solidFill>
                  <a:srgbClr val="000000"/>
                </a:solidFill>
                <a:latin typeface="Arial"/>
                <a:ea typeface="Arial"/>
              </a:rPr>
              <a:t>Key Takeaway</a:t>
            </a:r>
            <a:endParaRPr b="0" lang="en-US" sz="1050" spc="-1" strike="noStrike">
              <a:solidFill>
                <a:srgbClr val="000000"/>
              </a:solidFill>
              <a:latin typeface="Arial"/>
            </a:endParaRPr>
          </a:p>
          <a:p>
            <a:pPr marL="457200" indent="-294840">
              <a:lnSpc>
                <a:spcPct val="115000"/>
              </a:lnSpc>
              <a:spcBef>
                <a:spcPts val="1100"/>
              </a:spcBef>
              <a:buClr>
                <a:srgbClr val="000000"/>
              </a:buClr>
              <a:buFont typeface="Arial"/>
              <a:buAutoNum type="arabicPeriod"/>
            </a:pPr>
            <a:r>
              <a:rPr b="0" lang="en-US" sz="1050" spc="-1" strike="noStrike">
                <a:solidFill>
                  <a:srgbClr val="000000"/>
                </a:solidFill>
                <a:latin typeface="Arial"/>
                <a:ea typeface="Arial"/>
              </a:rPr>
              <a:t>Since the number of FBS teams is rising back to levels just before Division 1 AA, it could be possible that we will see a potential split again soon.</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The valley in the 1940's could likely be due to WW2</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The valley in the 1980's could be the introduction of Division 1 AA (today called FCS)</a:t>
            </a:r>
            <a:endParaRPr b="0" lang="en-US" sz="1050" spc="-1" strike="noStrike">
              <a:solidFill>
                <a:srgbClr val="000000"/>
              </a:solidFill>
              <a:latin typeface="Arial"/>
            </a:endParaRPr>
          </a:p>
        </p:txBody>
      </p:sp>
      <p:pic>
        <p:nvPicPr>
          <p:cNvPr id="120" name="Google Shape;155;p27" descr=""/>
          <p:cNvPicPr/>
          <p:nvPr/>
        </p:nvPicPr>
        <p:blipFill>
          <a:blip r:embed="rId1"/>
          <a:stretch/>
        </p:blipFill>
        <p:spPr>
          <a:xfrm>
            <a:off x="4219200" y="1017720"/>
            <a:ext cx="4807080" cy="3944880"/>
          </a:xfrm>
          <a:prstGeom prst="rect">
            <a:avLst/>
          </a:prstGeom>
          <a:ln>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TextShape 1"/>
          <p:cNvSpPr txBox="1"/>
          <p:nvPr/>
        </p:nvSpPr>
        <p:spPr>
          <a:xfrm>
            <a:off x="311760" y="444960"/>
            <a:ext cx="8520120" cy="572400"/>
          </a:xfrm>
          <a:prstGeom prst="rect">
            <a:avLst/>
          </a:prstGeom>
          <a:noFill/>
          <a:ln>
            <a:noFill/>
          </a:ln>
        </p:spPr>
        <p:txBody>
          <a:bodyPr tIns="91440" bIns="91440">
            <a:normAutofit fontScale="73000"/>
          </a:bodyPr>
          <a:p>
            <a:pPr>
              <a:lnSpc>
                <a:spcPct val="100000"/>
              </a:lnSpc>
            </a:pPr>
            <a:r>
              <a:rPr b="0" lang="en-US" sz="2800" spc="-1" strike="noStrike">
                <a:solidFill>
                  <a:srgbClr val="202729"/>
                </a:solidFill>
                <a:latin typeface="Proxima Nova"/>
                <a:ea typeface="Proxima Nova"/>
              </a:rPr>
              <a:t>Number of FBS Independents Team Over Time</a:t>
            </a:r>
            <a:endParaRPr b="0" lang="en-US" sz="2800" spc="-1" strike="noStrike">
              <a:solidFill>
                <a:srgbClr val="000000"/>
              </a:solidFill>
              <a:latin typeface="Arial"/>
            </a:endParaRPr>
          </a:p>
        </p:txBody>
      </p:sp>
      <p:sp>
        <p:nvSpPr>
          <p:cNvPr id="122" name="TextShape 2"/>
          <p:cNvSpPr txBox="1"/>
          <p:nvPr/>
        </p:nvSpPr>
        <p:spPr>
          <a:xfrm>
            <a:off x="311760" y="1152360"/>
            <a:ext cx="4074480" cy="3416040"/>
          </a:xfrm>
          <a:prstGeom prst="rect">
            <a:avLst/>
          </a:prstGeom>
          <a:noFill/>
          <a:ln>
            <a:noFill/>
          </a:ln>
        </p:spPr>
        <p:txBody>
          <a:bodyPr tIns="91440" bIns="91440">
            <a:normAutofit/>
          </a:bodyPr>
          <a:p>
            <a:pPr marL="190440">
              <a:lnSpc>
                <a:spcPct val="100000"/>
              </a:lnSpc>
              <a:spcBef>
                <a:spcPts val="1100"/>
              </a:spcBef>
            </a:pPr>
            <a:r>
              <a:rPr b="1" lang="en-US" sz="1050" spc="-1" strike="noStrike">
                <a:solidFill>
                  <a:srgbClr val="000000"/>
                </a:solidFill>
                <a:latin typeface="Arial"/>
                <a:ea typeface="Arial"/>
              </a:rPr>
              <a:t>Key Takeaway</a:t>
            </a:r>
            <a:endParaRPr b="0" lang="en-US" sz="1050" spc="-1" strike="noStrike">
              <a:solidFill>
                <a:srgbClr val="000000"/>
              </a:solidFill>
              <a:latin typeface="Arial"/>
            </a:endParaRPr>
          </a:p>
          <a:p>
            <a:pPr marL="457200" indent="-294840">
              <a:lnSpc>
                <a:spcPct val="115000"/>
              </a:lnSpc>
              <a:spcBef>
                <a:spcPts val="1100"/>
              </a:spcBef>
              <a:buClr>
                <a:srgbClr val="000000"/>
              </a:buClr>
              <a:buFont typeface="Arial"/>
              <a:buAutoNum type="arabicPeriod"/>
            </a:pPr>
            <a:r>
              <a:rPr b="0" lang="en-US" sz="1050" spc="-1" strike="noStrike">
                <a:solidFill>
                  <a:srgbClr val="000000"/>
                </a:solidFill>
                <a:latin typeface="Arial"/>
                <a:ea typeface="Arial"/>
              </a:rPr>
              <a:t>Since the 1980's when the Division 1 AA (today called FCS) was introduced, the number of independents has fallen sharply.</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This coincides with Group of 5 conferences beginning.</a:t>
            </a:r>
            <a:endParaRPr b="0" lang="en-US" sz="1050" spc="-1" strike="noStrike">
              <a:solidFill>
                <a:srgbClr val="000000"/>
              </a:solidFill>
              <a:latin typeface="Arial"/>
            </a:endParaRPr>
          </a:p>
          <a:p>
            <a:pPr>
              <a:lnSpc>
                <a:spcPct val="115000"/>
              </a:lnSpc>
              <a:spcBef>
                <a:spcPts val="700"/>
              </a:spcBef>
              <a:spcAft>
                <a:spcPts val="1199"/>
              </a:spcAft>
            </a:pPr>
            <a:endParaRPr b="0" lang="en-US" sz="1050" spc="-1" strike="noStrike">
              <a:solidFill>
                <a:srgbClr val="000000"/>
              </a:solidFill>
              <a:latin typeface="Arial"/>
            </a:endParaRPr>
          </a:p>
        </p:txBody>
      </p:sp>
      <p:pic>
        <p:nvPicPr>
          <p:cNvPr id="123" name="Google Shape;162;p28" descr=""/>
          <p:cNvPicPr/>
          <p:nvPr/>
        </p:nvPicPr>
        <p:blipFill>
          <a:blip r:embed="rId1"/>
          <a:stretch/>
        </p:blipFill>
        <p:spPr>
          <a:xfrm>
            <a:off x="4299480" y="1017720"/>
            <a:ext cx="4728600" cy="3944880"/>
          </a:xfrm>
          <a:prstGeom prst="rect">
            <a:avLst/>
          </a:prstGeom>
          <a:ln>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TextShape 1"/>
          <p:cNvSpPr txBox="1"/>
          <p:nvPr/>
        </p:nvSpPr>
        <p:spPr>
          <a:xfrm>
            <a:off x="311760" y="444960"/>
            <a:ext cx="8520120" cy="572400"/>
          </a:xfrm>
          <a:prstGeom prst="rect">
            <a:avLst/>
          </a:prstGeom>
          <a:noFill/>
          <a:ln>
            <a:noFill/>
          </a:ln>
        </p:spPr>
        <p:txBody>
          <a:bodyPr tIns="91440" bIns="91440">
            <a:normAutofit fontScale="73000"/>
          </a:bodyPr>
          <a:p>
            <a:pPr>
              <a:lnSpc>
                <a:spcPct val="100000"/>
              </a:lnSpc>
            </a:pPr>
            <a:r>
              <a:rPr b="0" lang="en-US" sz="2800" spc="-1" strike="noStrike">
                <a:solidFill>
                  <a:srgbClr val="202729"/>
                </a:solidFill>
                <a:latin typeface="Proxima Nova"/>
                <a:ea typeface="Proxima Nova"/>
              </a:rPr>
              <a:t>SEC Performance for All Time</a:t>
            </a:r>
            <a:endParaRPr b="0" lang="en-US" sz="2800" spc="-1" strike="noStrike">
              <a:solidFill>
                <a:srgbClr val="000000"/>
              </a:solidFill>
              <a:latin typeface="Arial"/>
            </a:endParaRPr>
          </a:p>
        </p:txBody>
      </p:sp>
      <p:sp>
        <p:nvSpPr>
          <p:cNvPr id="125" name="TextShape 2"/>
          <p:cNvSpPr txBox="1"/>
          <p:nvPr/>
        </p:nvSpPr>
        <p:spPr>
          <a:xfrm>
            <a:off x="311760" y="1152360"/>
            <a:ext cx="2508840" cy="3416040"/>
          </a:xfrm>
          <a:prstGeom prst="rect">
            <a:avLst/>
          </a:prstGeom>
          <a:noFill/>
          <a:ln>
            <a:noFill/>
          </a:ln>
        </p:spPr>
        <p:txBody>
          <a:bodyPr tIns="91440" bIns="91440">
            <a:normAutofit/>
          </a:bodyPr>
          <a:p>
            <a:pPr marL="190440">
              <a:lnSpc>
                <a:spcPct val="100000"/>
              </a:lnSpc>
              <a:spcBef>
                <a:spcPts val="1100"/>
              </a:spcBef>
            </a:pPr>
            <a:r>
              <a:rPr b="1" lang="en-US" sz="1050" spc="-1" strike="noStrike">
                <a:solidFill>
                  <a:srgbClr val="000000"/>
                </a:solidFill>
                <a:latin typeface="Arial"/>
                <a:ea typeface="Arial"/>
              </a:rPr>
              <a:t>Key Takeaways:</a:t>
            </a:r>
            <a:endParaRPr b="0" lang="en-US" sz="1050" spc="-1" strike="noStrike">
              <a:solidFill>
                <a:srgbClr val="000000"/>
              </a:solidFill>
              <a:latin typeface="Arial"/>
            </a:endParaRPr>
          </a:p>
          <a:p>
            <a:pPr marL="457200" indent="-294840">
              <a:lnSpc>
                <a:spcPct val="115000"/>
              </a:lnSpc>
              <a:spcBef>
                <a:spcPts val="1100"/>
              </a:spcBef>
              <a:buClr>
                <a:srgbClr val="000000"/>
              </a:buClr>
              <a:buFont typeface="Arial"/>
              <a:buAutoNum type="arabicPeriod"/>
            </a:pPr>
            <a:r>
              <a:rPr b="0" lang="en-US" sz="1050" spc="-1" strike="noStrike">
                <a:solidFill>
                  <a:srgbClr val="000000"/>
                </a:solidFill>
                <a:latin typeface="Arial"/>
                <a:ea typeface="Arial"/>
              </a:rPr>
              <a:t>SEC typically play ACC</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SEC typically wins 60% of the time against its Power 5 opponents</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Although SEC typically beats group of 5 teams over 70% of the time, they have only beat American Athletic about 60% of the time</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The biggest boost to SEC's win rate has been its frequency of playing with ACC. SEC has an estimated 65% win rate while scheduling twice as much as other conferences.</a:t>
            </a:r>
            <a:endParaRPr b="0" lang="en-US" sz="1050" spc="-1" strike="noStrike">
              <a:solidFill>
                <a:srgbClr val="000000"/>
              </a:solidFill>
              <a:latin typeface="Arial"/>
            </a:endParaRPr>
          </a:p>
          <a:p>
            <a:pPr>
              <a:lnSpc>
                <a:spcPct val="115000"/>
              </a:lnSpc>
              <a:spcBef>
                <a:spcPts val="700"/>
              </a:spcBef>
              <a:spcAft>
                <a:spcPts val="1199"/>
              </a:spcAft>
            </a:pPr>
            <a:endParaRPr b="0" lang="en-US" sz="1050" spc="-1" strike="noStrike">
              <a:solidFill>
                <a:srgbClr val="000000"/>
              </a:solidFill>
              <a:latin typeface="Arial"/>
            </a:endParaRPr>
          </a:p>
        </p:txBody>
      </p:sp>
      <p:pic>
        <p:nvPicPr>
          <p:cNvPr id="126" name="Google Shape;169;p29" descr=""/>
          <p:cNvPicPr/>
          <p:nvPr/>
        </p:nvPicPr>
        <p:blipFill>
          <a:blip r:embed="rId1"/>
          <a:stretch/>
        </p:blipFill>
        <p:spPr>
          <a:xfrm>
            <a:off x="2820960" y="1017720"/>
            <a:ext cx="6229800" cy="3961080"/>
          </a:xfrm>
          <a:prstGeom prst="rect">
            <a:avLst/>
          </a:prstGeom>
          <a:ln>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TextShape 1"/>
          <p:cNvSpPr txBox="1"/>
          <p:nvPr/>
        </p:nvSpPr>
        <p:spPr>
          <a:xfrm>
            <a:off x="311760" y="444960"/>
            <a:ext cx="8520120" cy="572400"/>
          </a:xfrm>
          <a:prstGeom prst="rect">
            <a:avLst/>
          </a:prstGeom>
          <a:noFill/>
          <a:ln>
            <a:noFill/>
          </a:ln>
        </p:spPr>
        <p:txBody>
          <a:bodyPr tIns="91440" bIns="91440">
            <a:normAutofit fontScale="73000"/>
          </a:bodyPr>
          <a:p>
            <a:pPr>
              <a:lnSpc>
                <a:spcPct val="100000"/>
              </a:lnSpc>
            </a:pPr>
            <a:r>
              <a:rPr b="0" lang="en-US" sz="2800" spc="-1" strike="noStrike">
                <a:solidFill>
                  <a:srgbClr val="202729"/>
                </a:solidFill>
                <a:latin typeface="Proxima Nova"/>
                <a:ea typeface="Proxima Nova"/>
              </a:rPr>
              <a:t>Sun Belt Performance for All Time</a:t>
            </a:r>
            <a:endParaRPr b="0" lang="en-US" sz="2800" spc="-1" strike="noStrike">
              <a:solidFill>
                <a:srgbClr val="000000"/>
              </a:solidFill>
              <a:latin typeface="Arial"/>
            </a:endParaRPr>
          </a:p>
        </p:txBody>
      </p:sp>
      <p:sp>
        <p:nvSpPr>
          <p:cNvPr id="128" name="TextShape 2"/>
          <p:cNvSpPr txBox="1"/>
          <p:nvPr/>
        </p:nvSpPr>
        <p:spPr>
          <a:xfrm>
            <a:off x="311760" y="1152360"/>
            <a:ext cx="2520000" cy="3416040"/>
          </a:xfrm>
          <a:prstGeom prst="rect">
            <a:avLst/>
          </a:prstGeom>
          <a:noFill/>
          <a:ln>
            <a:noFill/>
          </a:ln>
        </p:spPr>
        <p:txBody>
          <a:bodyPr tIns="91440" bIns="91440">
            <a:normAutofit/>
          </a:bodyPr>
          <a:p>
            <a:pPr marL="190440">
              <a:lnSpc>
                <a:spcPct val="100000"/>
              </a:lnSpc>
              <a:spcBef>
                <a:spcPts val="1100"/>
              </a:spcBef>
            </a:pPr>
            <a:r>
              <a:rPr b="1" lang="en-US" sz="1050" spc="-1" strike="noStrike">
                <a:solidFill>
                  <a:srgbClr val="000000"/>
                </a:solidFill>
                <a:latin typeface="Arial"/>
                <a:ea typeface="Arial"/>
              </a:rPr>
              <a:t>Key Takeaways:</a:t>
            </a:r>
            <a:endParaRPr b="0" lang="en-US" sz="1050" spc="-1" strike="noStrike">
              <a:solidFill>
                <a:srgbClr val="000000"/>
              </a:solidFill>
              <a:latin typeface="Arial"/>
            </a:endParaRPr>
          </a:p>
          <a:p>
            <a:pPr marL="457200" indent="-294840">
              <a:lnSpc>
                <a:spcPct val="115000"/>
              </a:lnSpc>
              <a:spcBef>
                <a:spcPts val="1100"/>
              </a:spcBef>
              <a:buClr>
                <a:srgbClr val="000000"/>
              </a:buClr>
              <a:buFont typeface="Arial"/>
              <a:buAutoNum type="arabicPeriod"/>
            </a:pPr>
            <a:r>
              <a:rPr b="0" lang="en-US" sz="1050" spc="-1" strike="noStrike">
                <a:solidFill>
                  <a:srgbClr val="000000"/>
                </a:solidFill>
                <a:latin typeface="Arial"/>
                <a:ea typeface="Arial"/>
              </a:rPr>
              <a:t>Sun Belt plays SEC the most out of the Power 5</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Sun Belt plays Conference USA the most out of the Group of 5.</a:t>
            </a:r>
            <a:endParaRPr b="0" lang="en-US" sz="1050" spc="-1" strike="noStrike">
              <a:solidFill>
                <a:srgbClr val="000000"/>
              </a:solidFill>
              <a:latin typeface="Arial"/>
            </a:endParaRPr>
          </a:p>
          <a:p>
            <a:pPr marL="457200" indent="-294840">
              <a:lnSpc>
                <a:spcPct val="115000"/>
              </a:lnSpc>
              <a:buClr>
                <a:srgbClr val="000000"/>
              </a:buClr>
              <a:buFont typeface="Arial"/>
              <a:buAutoNum type="arabicPeriod"/>
            </a:pPr>
            <a:r>
              <a:rPr b="0" lang="en-US" sz="1050" spc="-1" strike="noStrike">
                <a:solidFill>
                  <a:srgbClr val="000000"/>
                </a:solidFill>
                <a:latin typeface="Arial"/>
                <a:ea typeface="Arial"/>
              </a:rPr>
              <a:t>Sun Belt has seen relative success against Mid American ad Conference USA opponents.</a:t>
            </a:r>
            <a:endParaRPr b="0" lang="en-US" sz="1050" spc="-1" strike="noStrike">
              <a:solidFill>
                <a:srgbClr val="000000"/>
              </a:solidFill>
              <a:latin typeface="Arial"/>
            </a:endParaRPr>
          </a:p>
          <a:p>
            <a:pPr>
              <a:lnSpc>
                <a:spcPct val="115000"/>
              </a:lnSpc>
              <a:spcBef>
                <a:spcPts val="700"/>
              </a:spcBef>
              <a:spcAft>
                <a:spcPts val="1199"/>
              </a:spcAft>
            </a:pPr>
            <a:endParaRPr b="0" lang="en-US" sz="1050" spc="-1" strike="noStrike">
              <a:solidFill>
                <a:srgbClr val="000000"/>
              </a:solidFill>
              <a:latin typeface="Arial"/>
            </a:endParaRPr>
          </a:p>
        </p:txBody>
      </p:sp>
      <p:pic>
        <p:nvPicPr>
          <p:cNvPr id="129" name="Google Shape;176;p30" descr=""/>
          <p:cNvPicPr/>
          <p:nvPr/>
        </p:nvPicPr>
        <p:blipFill>
          <a:blip r:embed="rId1"/>
          <a:stretch/>
        </p:blipFill>
        <p:spPr>
          <a:xfrm>
            <a:off x="2832120" y="1017720"/>
            <a:ext cx="6229800" cy="3961080"/>
          </a:xfrm>
          <a:prstGeom prst="rect">
            <a:avLst/>
          </a:prstGeom>
          <a:ln>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LibreOffice/6.2.5.2$Windows_X86_64 LibreOffice_project/1ec314fa52f458adc18c4f025c545a4e8b22c159</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2025-12-24T11:49:17Z</dcterms:modified>
  <cp:revision>1</cp:revision>
  <dc:subject/>
  <dc:title/>
</cp:coreProperties>
</file>